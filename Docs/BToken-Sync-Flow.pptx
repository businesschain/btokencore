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>
            <p14:sldId id="256"/>
          </p14:sldIdLst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7CC23-2C0F-48B9-4121-4A2088DD1C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159000"/>
            <a:ext cx="10668000" cy="1143000"/>
          </a:xfrm>
        </p:spPr>
        <p:txBody>
          <a:bodyPr>
            <a:normAutofit/>
          </a:bodyPr>
          <a:lstStyle/>
          <a:p>
            <a:pPr algn="l"/>
            <a:r>
              <a:rPr lang="de-CH" sz="4000">
                <a:solidFill>
                  <a:srgbClr val="FFFFFF"/>
                </a:solidFill>
                <a:latin typeface="Segoe UI Semibold" panose="020B0702040204020203" pitchFamily="34" charset="0"/>
              </a:rPr>
              <a:t>Sync flow: headers → blocks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D04B2C2-AAA8-025E-8BD1-557ACAF27C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3365500"/>
            <a:ext cx="10668000" cy="762000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de-CH" sz="1600">
                <a:solidFill>
                  <a:srgbClr val="94A3B8"/>
                </a:solidFill>
                <a:latin typeface="Consolas" panose="020B0609020204030204" pitchFamily="49" charset="0"/>
              </a:rPr>
              <a:t>BTokenCore · Network · NetworkMessage · Blockchain · Branch</a:t>
            </a:r>
          </a:p>
        </p:txBody>
      </p:sp>
    </p:spTree>
    <p:extLst>
      <p:ext uri="{BB962C8B-B14F-4D97-AF65-F5344CB8AC3E}">
        <p14:creationId xmlns:p14="http://schemas.microsoft.com/office/powerpoint/2010/main" val="1112342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Overview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508000" y="1549400"/>
            <a:ext cx="11176000" cy="457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76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116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4B24529-5A7B-BFF6-7C78-3AB8A4E68215}"/>
              </a:ext>
            </a:extLst>
          </p:cNvPr>
          <p:cNvSpPr/>
          <p:nvPr/>
        </p:nvSpPr>
        <p:spPr>
          <a:xfrm>
            <a:off x="457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4DBE2E2-3558-10F6-1BEB-A2F63393D9D5}"/>
              </a:ext>
            </a:extLst>
          </p:cNvPr>
          <p:cNvSpPr txBox="1"/>
          <p:nvPr/>
        </p:nvSpPr>
        <p:spPr>
          <a:xfrm>
            <a:off x="497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request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838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878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insertion</a:t>
            </a: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76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HeadersMessage.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165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292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1206500" y="239395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2583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sp>
        <p:nvSpPr>
          <p:cNvPr id="19" name="GetDataMessage.SendBlockRequest">
            <a:extLst>
              <a:ext uri="{FF2B5EF4-FFF2-40B4-BE49-F238E27FC236}">
                <a16:creationId xmlns:a16="http://schemas.microsoft.com/office/drawing/2014/main" id="{A952DE41-8DD0-55B5-460B-145C9AD4070D}"/>
              </a:ext>
            </a:extLst>
          </p:cNvPr>
          <p:cNvSpPr/>
          <p:nvPr/>
        </p:nvSpPr>
        <p:spPr>
          <a:xfrm>
            <a:off x="457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25BE0093-FD8D-D02F-57C8-11523D0B8BDB}"/>
              </a:ext>
            </a:extLst>
          </p:cNvPr>
          <p:cNvCxnSpPr/>
          <p:nvPr/>
        </p:nvCxnSpPr>
        <p:spPr>
          <a:xfrm flipV="1">
            <a:off x="6096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20BBB680-5442-354A-C321-20BBF255A802}"/>
              </a:ext>
            </a:extLst>
          </p:cNvPr>
          <p:cNvSpPr/>
          <p:nvPr/>
        </p:nvSpPr>
        <p:spPr>
          <a:xfrm>
            <a:off x="5758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838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927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1054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8933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10274300" y="239395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495B30DA-1FEF-E5D9-D861-A375D82E1E8C}"/>
              </a:ext>
            </a:extLst>
          </p:cNvPr>
          <p:cNvSpPr/>
          <p:nvPr/>
        </p:nvSpPr>
        <p:spPr>
          <a:xfrm>
            <a:off x="762000" y="6426200"/>
            <a:ext cx="203200" cy="152400"/>
          </a:xfrm>
          <a:prstGeom prst="roundRect">
            <a:avLst/>
          </a:prstGeom>
          <a:solidFill>
            <a:srgbClr val="FDF0DC"/>
          </a:solidFill>
          <a:ln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5EF2612F-0AEE-FB18-C29B-8D10CF9EED29}"/>
              </a:ext>
            </a:extLst>
          </p:cNvPr>
          <p:cNvSpPr txBox="1"/>
          <p:nvPr/>
        </p:nvSpPr>
        <p:spPr>
          <a:xfrm>
            <a:off x="1041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remote peer / wire message</a:t>
            </a:r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835BE4F5-01F5-DBF8-EFC0-1E964D42DF03}"/>
              </a:ext>
            </a:extLst>
          </p:cNvPr>
          <p:cNvSpPr/>
          <p:nvPr/>
        </p:nvSpPr>
        <p:spPr>
          <a:xfrm>
            <a:off x="3810000" y="6426200"/>
            <a:ext cx="203200" cy="152400"/>
          </a:xfrm>
          <a:prstGeom prst="roundRect">
            <a:avLst/>
          </a:prstGeom>
          <a:solidFill>
            <a:srgbClr val="E3F2EF"/>
          </a:solidFill>
          <a:ln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E4F6B55E-39AC-1040-A202-676D0C00C45A}"/>
              </a:ext>
            </a:extLst>
          </p:cNvPr>
          <p:cNvSpPr txBox="1"/>
          <p:nvPr/>
        </p:nvSpPr>
        <p:spPr>
          <a:xfrm>
            <a:off x="4089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Peer · Network · *Message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FB74D11F-97C1-57FC-FEBA-33D95354B45C}"/>
              </a:ext>
            </a:extLst>
          </p:cNvPr>
          <p:cNvSpPr/>
          <p:nvPr/>
        </p:nvSpPr>
        <p:spPr>
          <a:xfrm>
            <a:off x="6858000" y="6426200"/>
            <a:ext cx="203200" cy="152400"/>
          </a:xfrm>
          <a:prstGeom prst="roundRect">
            <a:avLst/>
          </a:prstGeom>
          <a:solidFill>
            <a:srgbClr val="EEEAFB"/>
          </a:solidFill>
          <a:ln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52832BF6-8243-AA0A-8720-3447E1BD0B0B}"/>
              </a:ext>
            </a:extLst>
          </p:cNvPr>
          <p:cNvSpPr txBox="1"/>
          <p:nvPr/>
        </p:nvSpPr>
        <p:spPr>
          <a:xfrm>
            <a:off x="7137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Blockchain · Branch</a:t>
            </a:r>
          </a:p>
        </p:txBody>
      </p:sp>
      <p:sp>
        <p:nvSpPr>
          <p:cNvPr id="43" name="Network.StartBlockDownloadDispatcher">
            <a:extLst>
              <a:ext uri="{FF2B5EF4-FFF2-40B4-BE49-F238E27FC236}">
                <a16:creationId xmlns:a16="http://schemas.microsoft.com/office/drawing/2014/main" id="{18467037-D91B-27F5-BAED-214B82560EBB}"/>
              </a:ext>
            </a:extLst>
          </p:cNvPr>
          <p:cNvSpPr/>
          <p:nvPr/>
        </p:nvSpPr>
        <p:spPr>
          <a:xfrm>
            <a:off x="4572000" y="3886200"/>
            <a:ext cx="3048000" cy="5080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/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Network.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</a:p>
        </p:txBody>
      </p:sp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546600"/>
            <a:ext cx="11176000" cy="1651000"/>
          </a:xfrm>
          <a:prstGeom prst="roundRect">
            <a:avLst>
              <a:gd name="adj" fmla="val 6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660400" y="4597400"/>
            <a:ext cx="254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CH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</p:txBody>
      </p:sp>
      <p:sp>
        <p:nvSpPr>
          <p:cNvPr id="46" name="Blockchain.TryExtendHeaderchain">
            <a:extLst>
              <a:ext uri="{FF2B5EF4-FFF2-40B4-BE49-F238E27FC236}">
                <a16:creationId xmlns:a16="http://schemas.microsoft.com/office/drawing/2014/main" id="{F58B07B6-4DA8-B3D5-8BCE-C60815B1D8CE}"/>
              </a:ext>
            </a:extLst>
          </p:cNvPr>
          <p:cNvSpPr/>
          <p:nvPr/>
        </p:nvSpPr>
        <p:spPr>
          <a:xfrm>
            <a:off x="1143000" y="4826000"/>
            <a:ext cx="2286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</p:txBody>
      </p:sp>
      <p:sp>
        <p:nvSpPr>
          <p:cNvPr id="47" name="Blockchain.GetHeaderDownload">
            <a:extLst>
              <a:ext uri="{FF2B5EF4-FFF2-40B4-BE49-F238E27FC236}">
                <a16:creationId xmlns:a16="http://schemas.microsoft.com/office/drawing/2014/main" id="{14B938D7-7B15-588E-CB46-4437F4EA3919}"/>
              </a:ext>
            </a:extLst>
          </p:cNvPr>
          <p:cNvSpPr/>
          <p:nvPr/>
        </p:nvSpPr>
        <p:spPr>
          <a:xfrm>
            <a:off x="5016500" y="4826000"/>
            <a:ext cx="2159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GetHeaderDownload</a:t>
            </a:r>
          </a:p>
        </p:txBody>
      </p:sp>
      <p:sp>
        <p:nvSpPr>
          <p:cNvPr id="48" name="Blockchain.InsertBlockReturnNextBlock">
            <a:extLst>
              <a:ext uri="{FF2B5EF4-FFF2-40B4-BE49-F238E27FC236}">
                <a16:creationId xmlns:a16="http://schemas.microsoft.com/office/drawing/2014/main" id="{C5D7D2A4-85AF-6B33-102B-3F54A0A502D2}"/>
              </a:ext>
            </a:extLst>
          </p:cNvPr>
          <p:cNvSpPr/>
          <p:nvPr/>
        </p:nvSpPr>
        <p:spPr>
          <a:xfrm>
            <a:off x="8636000" y="4826000"/>
            <a:ext cx="2540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InsertBlockReturnNextBlock</a:t>
            </a:r>
          </a:p>
        </p:txBody>
      </p:sp>
      <p:sp>
        <p:nvSpPr>
          <p:cNvPr id="49" name="Blockchain.InsertBlock">
            <a:extLst>
              <a:ext uri="{FF2B5EF4-FFF2-40B4-BE49-F238E27FC236}">
                <a16:creationId xmlns:a16="http://schemas.microsoft.com/office/drawing/2014/main" id="{CE4300EB-5654-2A9C-BA0B-253C8A6CC4C0}"/>
              </a:ext>
            </a:extLst>
          </p:cNvPr>
          <p:cNvSpPr/>
          <p:nvPr/>
        </p:nvSpPr>
        <p:spPr>
          <a:xfrm>
            <a:off x="9144000" y="5664200"/>
            <a:ext cx="1524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InsertBlock</a:t>
            </a:r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889000" y="5308600"/>
            <a:ext cx="27940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1016000" y="5346700"/>
            <a:ext cx="127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CH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</a:p>
        </p:txBody>
      </p:sp>
      <p:sp>
        <p:nvSpPr>
          <p:cNvPr id="52" name="Branch.TryExtendHeaderchain">
            <a:extLst>
              <a:ext uri="{FF2B5EF4-FFF2-40B4-BE49-F238E27FC236}">
                <a16:creationId xmlns:a16="http://schemas.microsoft.com/office/drawing/2014/main" id="{2AEA1E30-272F-8D1B-8993-7869AFDAA9CA}"/>
              </a:ext>
            </a:extLst>
          </p:cNvPr>
          <p:cNvSpPr/>
          <p:nvPr/>
        </p:nvSpPr>
        <p:spPr>
          <a:xfrm>
            <a:off x="1143000" y="5613400"/>
            <a:ext cx="2286000" cy="355600"/>
          </a:xfrm>
          <a:prstGeom prst="roundRect">
            <a:avLst>
              <a:gd name="adj" fmla="val 2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C3D98490-5214-03DE-5211-03F9591FE8EE}"/>
              </a:ext>
            </a:extLst>
          </p:cNvPr>
          <p:cNvCxnSpPr>
            <a:cxnSpLocks/>
            <a:stCxn id="10" idx="2"/>
            <a:endCxn id="46" idx="0"/>
          </p:cNvCxnSpPr>
          <p:nvPr/>
        </p:nvCxnSpPr>
        <p:spPr>
          <a:xfrm>
            <a:off x="2286000" y="3683000"/>
            <a:ext cx="0" cy="11430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E03E96F5-C079-073E-AE53-A92EE888EF47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>
            <a:off x="2286000" y="5181600"/>
            <a:ext cx="0" cy="431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6C616E80-EA67-ED77-22AB-7E59A931479F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6096000" y="3683000"/>
            <a:ext cx="0" cy="2032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E2D57256-F9F1-4894-95FE-E6F452DD3384}"/>
              </a:ext>
            </a:extLst>
          </p:cNvPr>
          <p:cNvCxnSpPr>
            <a:cxnSpLocks/>
            <a:stCxn id="43" idx="2"/>
            <a:endCxn id="47" idx="0"/>
          </p:cNvCxnSpPr>
          <p:nvPr/>
        </p:nvCxnSpPr>
        <p:spPr>
          <a:xfrm>
            <a:off x="6096000" y="4394200"/>
            <a:ext cx="0" cy="431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611DD8D7-C40C-CA0F-933A-24F5CE46AF70}"/>
              </a:ext>
            </a:extLst>
          </p:cNvPr>
          <p:cNvCxnSpPr>
            <a:cxnSpLocks/>
            <a:stCxn id="26" idx="2"/>
            <a:endCxn id="48" idx="0"/>
          </p:cNvCxnSpPr>
          <p:nvPr/>
        </p:nvCxnSpPr>
        <p:spPr>
          <a:xfrm>
            <a:off x="9906000" y="3683000"/>
            <a:ext cx="0" cy="11430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151A9785-230B-8D03-A55E-126283CCE46D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>
            <a:off x="9906000" y="5181600"/>
            <a:ext cx="0" cy="4826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Verbinder: gewinkelt 58">
            <a:extLst>
              <a:ext uri="{FF2B5EF4-FFF2-40B4-BE49-F238E27FC236}">
                <a16:creationId xmlns:a16="http://schemas.microsoft.com/office/drawing/2014/main" id="{7080BCD8-7043-A19F-FEBA-3E4118BB1B5C}"/>
              </a:ext>
            </a:extLst>
          </p:cNvPr>
          <p:cNvCxnSpPr>
            <a:cxnSpLocks/>
            <a:stCxn id="10" idx="3"/>
            <a:endCxn id="43" idx="1"/>
          </p:cNvCxnSpPr>
          <p:nvPr/>
        </p:nvCxnSpPr>
        <p:spPr>
          <a:xfrm>
            <a:off x="3810000" y="3340100"/>
            <a:ext cx="762000" cy="8001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43C068F1-8EFB-4420-6D92-ABAE4CBEA38F}"/>
              </a:ext>
            </a:extLst>
          </p:cNvPr>
          <p:cNvSpPr txBox="1"/>
          <p:nvPr/>
        </p:nvSpPr>
        <p:spPr>
          <a:xfrm>
            <a:off x="2082800" y="3759200"/>
            <a:ext cx="2032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HeaderTipReceivedLast</a:t>
            </a:r>
          </a:p>
        </p:txBody>
      </p: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6" idx="1"/>
            <a:endCxn id="108" idx="3"/>
          </p:cNvCxnSpPr>
          <p:nvPr/>
        </p:nvCxnSpPr>
        <p:spPr>
          <a:xfrm rot="10800000">
            <a:off x="4267200" y="3467100"/>
            <a:ext cx="4013200" cy="1130300"/>
          </a:xfrm>
          <a:prstGeom prst="bentConnector3">
            <a:avLst>
              <a:gd name="adj1" fmla="val 40348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3693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chain;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uses it to assign the peer's next 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block download on its branch, up to its height.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C0BF74-C250-C4BA-6759-E9119C8D1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2  Block request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CCE2185D-8A17-8B63-893F-C288D462C9C2}"/>
              </a:ext>
            </a:extLst>
          </p:cNvPr>
          <p:cNvSpPr/>
          <p:nvPr/>
        </p:nvSpPr>
        <p:spPr>
          <a:xfrm>
            <a:off x="508000" y="1219200"/>
            <a:ext cx="965200" cy="5130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4" name="Network.StartBlockDownloadDispatcher">
            <a:extLst>
              <a:ext uri="{FF2B5EF4-FFF2-40B4-BE49-F238E27FC236}">
                <a16:creationId xmlns:a16="http://schemas.microsoft.com/office/drawing/2014/main" id="{48A4E6F7-B59C-DAE7-7B20-CEB343D8CFAA}"/>
              </a:ext>
            </a:extLst>
          </p:cNvPr>
          <p:cNvSpPr/>
          <p:nvPr/>
        </p:nvSpPr>
        <p:spPr>
          <a:xfrm>
            <a:off x="25400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Network.</a:t>
            </a:r>
          </a:p>
          <a:p>
            <a:pPr algn="ctr"/>
            <a:r>
              <a:rPr lang="de-CH" sz="80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every 1000 ms, per Peer; BlockDownload.Header == null</a:t>
            </a:r>
          </a:p>
        </p:txBody>
      </p:sp>
      <p:sp>
        <p:nvSpPr>
          <p:cNvPr id="5" name="Blockchain.GetHeaderDownload">
            <a:extLst>
              <a:ext uri="{FF2B5EF4-FFF2-40B4-BE49-F238E27FC236}">
                <a16:creationId xmlns:a16="http://schemas.microsoft.com/office/drawing/2014/main" id="{DA1DBF3B-7B16-263D-FCA1-854D27B00679}"/>
              </a:ext>
            </a:extLst>
          </p:cNvPr>
          <p:cNvSpPr/>
          <p:nvPr/>
        </p:nvSpPr>
        <p:spPr>
          <a:xfrm>
            <a:off x="48514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GetHeaderDownload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(HeaderTipReceivedLast)</a:t>
            </a:r>
          </a:p>
        </p:txBody>
      </p:sp>
      <p:sp>
        <p:nvSpPr>
          <p:cNvPr id="6" name="Blockchain.FetchHeaderDownload">
            <a:extLst>
              <a:ext uri="{FF2B5EF4-FFF2-40B4-BE49-F238E27FC236}">
                <a16:creationId xmlns:a16="http://schemas.microsoft.com/office/drawing/2014/main" id="{A254119A-6C56-C9DC-27F8-B530DFCA7BCE}"/>
              </a:ext>
            </a:extLst>
          </p:cNvPr>
          <p:cNvSpPr/>
          <p:nvPr/>
        </p:nvSpPr>
        <p:spPr>
          <a:xfrm>
            <a:off x="71628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headerTipPeer.Height &gt; HeaderTipBlockchain.Height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Branch.FindChain">
            <a:extLst>
              <a:ext uri="{FF2B5EF4-FFF2-40B4-BE49-F238E27FC236}">
                <a16:creationId xmlns:a16="http://schemas.microsoft.com/office/drawing/2014/main" id="{B66AAF1D-EE45-E668-FB05-80C1EC562BB7}"/>
              </a:ext>
            </a:extLst>
          </p:cNvPr>
          <p:cNvSpPr/>
          <p:nvPr/>
        </p:nvSpPr>
        <p:spPr>
          <a:xfrm>
            <a:off x="94742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FindChain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(headerTipPeer)</a:t>
            </a:r>
          </a:p>
        </p:txBody>
      </p:sp>
      <p:sp>
        <p:nvSpPr>
          <p:cNvPr id="8" name="Branch.FetchHeaderDownloadAlongPath">
            <a:extLst>
              <a:ext uri="{FF2B5EF4-FFF2-40B4-BE49-F238E27FC236}">
                <a16:creationId xmlns:a16="http://schemas.microsoft.com/office/drawing/2014/main" id="{C370D566-6733-E394-25F0-4A0C708EDFBD}"/>
              </a:ext>
            </a:extLst>
          </p:cNvPr>
          <p:cNvSpPr/>
          <p:nvPr/>
        </p:nvSpPr>
        <p:spPr>
          <a:xfrm>
            <a:off x="94742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en-US" sz="8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FetchHeaderDownloadAlongPath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BranchParent first, then this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Branch.FetchHeaderDownload">
            <a:extLst>
              <a:ext uri="{FF2B5EF4-FFF2-40B4-BE49-F238E27FC236}">
                <a16:creationId xmlns:a16="http://schemas.microsoft.com/office/drawing/2014/main" id="{FFFCA44E-4B4C-42AD-675D-96AB476D04B1}"/>
              </a:ext>
            </a:extLst>
          </p:cNvPr>
          <p:cNvSpPr/>
          <p:nvPr/>
        </p:nvSpPr>
        <p:spPr>
          <a:xfrm>
            <a:off x="71628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HeaderDownloadNext → HeadersAwaitingBlock</a:t>
            </a:r>
          </a:p>
        </p:txBody>
      </p:sp>
      <p:sp>
        <p:nvSpPr>
          <p:cNvPr id="10" name="BlockMessage.BlockDownload.Header">
            <a:extLst>
              <a:ext uri="{FF2B5EF4-FFF2-40B4-BE49-F238E27FC236}">
                <a16:creationId xmlns:a16="http://schemas.microsoft.com/office/drawing/2014/main" id="{0B3EA2FA-8BC2-8874-6EA4-0963FD2BFC41}"/>
              </a:ext>
            </a:extLst>
          </p:cNvPr>
          <p:cNvSpPr/>
          <p:nvPr/>
        </p:nvSpPr>
        <p:spPr>
          <a:xfrm>
            <a:off x="71628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BlockDownload.Header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← headerDownload; TimeRequestBlock ← UtcNow</a:t>
            </a:r>
          </a:p>
        </p:txBody>
      </p:sp>
      <p:sp>
        <p:nvSpPr>
          <p:cNvPr id="11" name="GetDataMessage.SendBlockRequest">
            <a:extLst>
              <a:ext uri="{FF2B5EF4-FFF2-40B4-BE49-F238E27FC236}">
                <a16:creationId xmlns:a16="http://schemas.microsoft.com/office/drawing/2014/main" id="{56A3D93C-DC7E-E5FD-D8A7-64FF095CF3C4}"/>
              </a:ext>
            </a:extLst>
          </p:cNvPr>
          <p:cNvSpPr/>
          <p:nvPr/>
        </p:nvSpPr>
        <p:spPr>
          <a:xfrm>
            <a:off x="48514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MSG_BLOCK, headerDownload.Hash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240FE48-8B69-612A-833E-8D4647E64D5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45720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C765E52-626C-6A15-1285-48E7B0D025D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68834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EE4005F-0B21-FE16-D052-5D221F71877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91948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B5FB53-B3D9-513A-060A-5AE2DD40AB5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0490200" y="2108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106A508-73DF-2124-87DA-4CB1CD4BD5A3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flipH="1">
            <a:off x="9194800" y="3086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4B3A65-1743-5DF5-4298-D9EF6689235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81788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AFE9571-EEAD-32CF-D859-B36F645E86BD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>
            <a:off x="6883400" y="4483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2AF8A4C0-B726-BA5D-95AE-95D490C548F3}"/>
              </a:ext>
            </a:extLst>
          </p:cNvPr>
          <p:cNvCxnSpPr/>
          <p:nvPr/>
        </p:nvCxnSpPr>
        <p:spPr>
          <a:xfrm flipH="1">
            <a:off x="1473200" y="4483100"/>
            <a:ext cx="33782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24DC4D04-906C-ACF3-C64A-630ACBD40C1B}"/>
              </a:ext>
            </a:extLst>
          </p:cNvPr>
          <p:cNvSpPr/>
          <p:nvPr/>
        </p:nvSpPr>
        <p:spPr>
          <a:xfrm>
            <a:off x="2824480" y="43751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</p:spTree>
    <p:extLst>
      <p:ext uri="{BB962C8B-B14F-4D97-AF65-F5344CB8AC3E}">
        <p14:creationId xmlns:p14="http://schemas.microsoft.com/office/powerpoint/2010/main" val="4017636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315210-3D20-0463-3367-45221B97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3  Block insertion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51699735-A71B-2E8D-960F-6BCABBC60DDE}"/>
              </a:ext>
            </a:extLst>
          </p:cNvPr>
          <p:cNvSpPr/>
          <p:nvPr/>
        </p:nvSpPr>
        <p:spPr>
          <a:xfrm>
            <a:off x="508000" y="1219200"/>
            <a:ext cx="965200" cy="5130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4" name="BlockMessage.Run">
            <a:extLst>
              <a:ext uri="{FF2B5EF4-FFF2-40B4-BE49-F238E27FC236}">
                <a16:creationId xmlns:a16="http://schemas.microsoft.com/office/drawing/2014/main" id="{52EB3864-854C-2DB4-266B-5DE748525C20}"/>
              </a:ext>
            </a:extLst>
          </p:cNvPr>
          <p:cNvSpPr/>
          <p:nvPr/>
        </p:nvSpPr>
        <p:spPr>
          <a:xfrm>
            <a:off x="25400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BlockDownload.Parse()</a:t>
            </a:r>
          </a:p>
        </p:txBody>
      </p:sp>
      <p:sp>
        <p:nvSpPr>
          <p:cNvPr id="5" name="Blockchain.InsertBlockReturnNextBlock">
            <a:extLst>
              <a:ext uri="{FF2B5EF4-FFF2-40B4-BE49-F238E27FC236}">
                <a16:creationId xmlns:a16="http://schemas.microsoft.com/office/drawing/2014/main" id="{B5998380-FABE-2555-09BC-CE33E4CD3011}"/>
              </a:ext>
            </a:extLst>
          </p:cNvPr>
          <p:cNvSpPr/>
          <p:nvPr/>
        </p:nvSpPr>
        <p:spPr>
          <a:xfrm>
            <a:off x="48514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900" b="1">
                <a:solidFill>
                  <a:srgbClr val="3B1E7A"/>
                </a:solidFill>
                <a:latin typeface="Consolas" panose="020B0609020204030204" pitchFamily="49" charset="0"/>
              </a:rPr>
              <a:t>InsertBlockReturnNextBlock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LockBlockchain()</a:t>
            </a:r>
          </a:p>
        </p:txBody>
      </p:sp>
      <p:sp>
        <p:nvSpPr>
          <p:cNvPr id="6" name="Branch.TryQueueBlock">
            <a:extLst>
              <a:ext uri="{FF2B5EF4-FFF2-40B4-BE49-F238E27FC236}">
                <a16:creationId xmlns:a16="http://schemas.microsoft.com/office/drawing/2014/main" id="{FA91D15A-1FF8-1021-CEA4-FFC553C66180}"/>
              </a:ext>
            </a:extLst>
          </p:cNvPr>
          <p:cNvSpPr/>
          <p:nvPr/>
        </p:nvSpPr>
        <p:spPr>
          <a:xfrm>
            <a:off x="71628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TryQueueBlock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HeadersAwaitingBlock → QueueBlocks</a:t>
            </a:r>
          </a:p>
        </p:txBody>
      </p:sp>
      <p:sp>
        <p:nvSpPr>
          <p:cNvPr id="7" name="Branch.TryGetBlockNext">
            <a:extLst>
              <a:ext uri="{FF2B5EF4-FFF2-40B4-BE49-F238E27FC236}">
                <a16:creationId xmlns:a16="http://schemas.microsoft.com/office/drawing/2014/main" id="{7BB29472-2679-64A2-8C17-C8AA9DEFBC70}"/>
              </a:ext>
            </a:extLst>
          </p:cNvPr>
          <p:cNvSpPr/>
          <p:nvPr/>
        </p:nvSpPr>
        <p:spPr>
          <a:xfrm>
            <a:off x="71628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TryGetBlockNext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HeaderTipBlockchain ← block.Header</a:t>
            </a:r>
          </a:p>
        </p:txBody>
      </p:sp>
      <p:sp>
        <p:nvSpPr>
          <p:cNvPr id="8" name="Blockchain.InsertBlock">
            <a:extLst>
              <a:ext uri="{FF2B5EF4-FFF2-40B4-BE49-F238E27FC236}">
                <a16:creationId xmlns:a16="http://schemas.microsoft.com/office/drawing/2014/main" id="{5DF6F11C-B6C8-7DCB-282B-7A47B609A5F6}"/>
              </a:ext>
            </a:extLst>
          </p:cNvPr>
          <p:cNvSpPr/>
          <p:nvPr/>
        </p:nvSpPr>
        <p:spPr>
          <a:xfrm>
            <a:off x="71628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InsertBlock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Token.InsertBlock; LiteDB; OnBlockInserted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Branch.BlocksBranch.Add">
            <a:extLst>
              <a:ext uri="{FF2B5EF4-FFF2-40B4-BE49-F238E27FC236}">
                <a16:creationId xmlns:a16="http://schemas.microsoft.com/office/drawing/2014/main" id="{4D149F5A-5103-DB2E-642B-B586D9D3F41B}"/>
              </a:ext>
            </a:extLst>
          </p:cNvPr>
          <p:cNvSpPr/>
          <p:nvPr/>
        </p:nvSpPr>
        <p:spPr>
          <a:xfrm>
            <a:off x="94742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BlocksBranch.Add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while TryGetBlockNext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Blockchain.Reorg">
            <a:extLst>
              <a:ext uri="{FF2B5EF4-FFF2-40B4-BE49-F238E27FC236}">
                <a16:creationId xmlns:a16="http://schemas.microsoft.com/office/drawing/2014/main" id="{A12DCDEE-636B-029B-F44A-4397B3480125}"/>
              </a:ext>
            </a:extLst>
          </p:cNvPr>
          <p:cNvSpPr/>
          <p:nvPr/>
        </p:nvSpPr>
        <p:spPr>
          <a:xfrm>
            <a:off x="94742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Reorg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Token.RollBack; InsertBlock; SwitchWithRootBranch</a:t>
            </a:r>
          </a:p>
        </p:txBody>
      </p:sp>
      <p:sp>
        <p:nvSpPr>
          <p:cNvPr id="11" name="Blockchain.FetchHeaderDownload">
            <a:extLst>
              <a:ext uri="{FF2B5EF4-FFF2-40B4-BE49-F238E27FC236}">
                <a16:creationId xmlns:a16="http://schemas.microsoft.com/office/drawing/2014/main" id="{5A5E91B6-3A74-ABE8-6AC3-6C262A064239}"/>
              </a:ext>
            </a:extLst>
          </p:cNvPr>
          <p:cNvSpPr/>
          <p:nvPr/>
        </p:nvSpPr>
        <p:spPr>
          <a:xfrm>
            <a:off x="4851400" y="5461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(headerTipPeer)</a:t>
            </a:r>
          </a:p>
        </p:txBody>
      </p:sp>
      <p:sp>
        <p:nvSpPr>
          <p:cNvPr id="12" name="GetDataMessage.SendBlockRequest">
            <a:extLst>
              <a:ext uri="{FF2B5EF4-FFF2-40B4-BE49-F238E27FC236}">
                <a16:creationId xmlns:a16="http://schemas.microsoft.com/office/drawing/2014/main" id="{0332FA89-BD1A-F133-CE33-CD79095BEF0C}"/>
              </a:ext>
            </a:extLst>
          </p:cNvPr>
          <p:cNvSpPr/>
          <p:nvPr/>
        </p:nvSpPr>
        <p:spPr>
          <a:xfrm>
            <a:off x="2540000" y="5461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BlockDownload.Header.Hash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64AFC51-3839-CD9D-8657-4491B2DA38AD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45720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0671CD2-7346-7D3B-34D3-FDA1446B7F1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68834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28F542B-2979-54D8-E4BB-7C44323592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8178800" y="2108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7C07BAC-CD1A-1E8D-67E0-EBB5DDC831B7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81788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B327886F-9C99-BCE9-C9B4-B6421EB10CC4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9194800" y="1689100"/>
            <a:ext cx="1295400" cy="977900"/>
          </a:xfrm>
          <a:prstGeom prst="bentConnector2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7A4E2A0-03B0-62F8-A3B7-EC2588BC82FA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104902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E914422-8AF4-FFBD-390F-B9F691FACB17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5867400" y="2108200"/>
            <a:ext cx="0" cy="3352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B03FBDFF-7F8F-E942-2765-1CD6F74D1467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4572000" y="5880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1F14436B-5819-5EBE-5ED9-47350D9F1EA1}"/>
              </a:ext>
            </a:extLst>
          </p:cNvPr>
          <p:cNvSpPr txBox="1"/>
          <p:nvPr/>
        </p:nvSpPr>
        <p:spPr>
          <a:xfrm>
            <a:off x="6654800" y="22352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 ==</a:t>
            </a:r>
          </a:p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BranchRoot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503E5C9-EB87-4903-B95C-BFE84082143A}"/>
              </a:ext>
            </a:extLst>
          </p:cNvPr>
          <p:cNvSpPr txBox="1"/>
          <p:nvPr/>
        </p:nvSpPr>
        <p:spPr>
          <a:xfrm>
            <a:off x="9423400" y="14478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 != BranchRoot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227BD53-5C15-B5BD-6FD2-4A41846859E4}"/>
              </a:ext>
            </a:extLst>
          </p:cNvPr>
          <p:cNvSpPr txBox="1"/>
          <p:nvPr/>
        </p:nvSpPr>
        <p:spPr>
          <a:xfrm>
            <a:off x="6654800" y="36830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while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ACDFEBA-C71F-38D4-5984-0B349BC9890A}"/>
              </a:ext>
            </a:extLst>
          </p:cNvPr>
          <p:cNvSpPr txBox="1"/>
          <p:nvPr/>
        </p:nvSpPr>
        <p:spPr>
          <a:xfrm>
            <a:off x="10566400" y="3632200"/>
            <a:ext cx="93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IsStrongerThan</a:t>
            </a:r>
          </a:p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(BranchRoot)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DDD538B1-75C3-0874-996E-4A1A0BB1D43F}"/>
              </a:ext>
            </a:extLst>
          </p:cNvPr>
          <p:cNvSpPr txBox="1"/>
          <p:nvPr/>
        </p:nvSpPr>
        <p:spPr>
          <a:xfrm>
            <a:off x="5943600" y="50292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next</a:t>
            </a:r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5EDADFC-C030-FC1C-C3D3-DF81477DC0DA}"/>
              </a:ext>
            </a:extLst>
          </p:cNvPr>
          <p:cNvCxnSpPr/>
          <p:nvPr/>
        </p:nvCxnSpPr>
        <p:spPr>
          <a:xfrm>
            <a:off x="1473200" y="1689100"/>
            <a:ext cx="1066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23A465D7-C4E8-ECBD-D8FA-DC55655A81AC}"/>
              </a:ext>
            </a:extLst>
          </p:cNvPr>
          <p:cNvSpPr/>
          <p:nvPr/>
        </p:nvSpPr>
        <p:spPr>
          <a:xfrm>
            <a:off x="1739900" y="137795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8F22DF4-2322-F7F8-B4BF-A3DD8BECEDF8}"/>
              </a:ext>
            </a:extLst>
          </p:cNvPr>
          <p:cNvCxnSpPr/>
          <p:nvPr/>
        </p:nvCxnSpPr>
        <p:spPr>
          <a:xfrm flipH="1">
            <a:off x="1473200" y="5880100"/>
            <a:ext cx="1066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BB911AD5-977A-7F8E-CA0C-91975BB20D5E}"/>
              </a:ext>
            </a:extLst>
          </p:cNvPr>
          <p:cNvSpPr/>
          <p:nvPr/>
        </p:nvSpPr>
        <p:spPr>
          <a:xfrm>
            <a:off x="1668780" y="5568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</p:spTree>
    <p:extLst>
      <p:ext uri="{BB962C8B-B14F-4D97-AF65-F5344CB8AC3E}">
        <p14:creationId xmlns:p14="http://schemas.microsoft.com/office/powerpoint/2010/main" val="98634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327</Words>
  <Application>Microsoft Office PowerPoint</Application>
  <PresentationFormat>Breitbild</PresentationFormat>
  <Paragraphs>126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Arial</vt:lpstr>
      <vt:lpstr>Consolas</vt:lpstr>
      <vt:lpstr>Segoe UI</vt:lpstr>
      <vt:lpstr>Segoe UI Semibold</vt:lpstr>
      <vt:lpstr>Office</vt:lpstr>
      <vt:lpstr>Sync flow: headers → blocks</vt:lpstr>
      <vt:lpstr>Overview</vt:lpstr>
      <vt:lpstr>1  Header sync</vt:lpstr>
      <vt:lpstr>2  Block request</vt:lpstr>
      <vt:lpstr>3  Block insertion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7</cp:revision>
  <dcterms:created xsi:type="dcterms:W3CDTF">2026-10-02T10:39:19Z</dcterms:created>
  <dcterms:modified xsi:type="dcterms:W3CDTF">2026-10-02T15:13:10Z</dcterms:modified>
</cp:coreProperties>
</file>