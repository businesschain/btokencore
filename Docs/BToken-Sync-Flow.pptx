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60" y="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413000"/>
          </a:xfrm>
          <a:prstGeom prst="roundRect">
            <a:avLst>
              <a:gd name="adj" fmla="val 6000"/>
            </a:avLst>
          </a:prstGeom>
          <a:solidFill>
            <a:srgbClr val="F5F2FD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635000" y="4368800"/>
            <a:ext cx="7747000" cy="2133600"/>
          </a:xfrm>
          <a:prstGeom prst="roundRect">
            <a:avLst>
              <a:gd name="adj" fmla="val 6557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914400" y="28194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 dirty="0">
                <a:solidFill>
                  <a:srgbClr val="1E293B"/>
                </a:solidFill>
                <a:latin typeface="Segoe UI Semibold" panose="020B0702040204020203" pitchFamily="34" charset="0"/>
              </a:rPr>
              <a:t>Overview Data Flow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8970329" y="4318000"/>
            <a:ext cx="2540000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656642" y="4419600"/>
            <a:ext cx="801501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header tree root</a:t>
            </a:r>
          </a:p>
        </p:txBody>
      </p: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152511" y="2628900"/>
            <a:ext cx="2014975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manages peers, controls synchronization</a:t>
            </a: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95" name="Branch.Blocks">
            <a:extLst>
              <a:ext uri="{FF2B5EF4-FFF2-40B4-BE49-F238E27FC236}">
                <a16:creationId xmlns:a16="http://schemas.microsoft.com/office/drawing/2014/main" id="{161A8BBB-61B6-5688-AE8A-B4D2D2927EB2}"/>
              </a:ext>
            </a:extLst>
          </p:cNvPr>
          <p:cNvSpPr/>
          <p:nvPr/>
        </p:nvSpPr>
        <p:spPr>
          <a:xfrm>
            <a:off x="6413500" y="5480050"/>
            <a:ext cx="13970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96" name="Blockchain.DatabaseHeaderCollection">
            <a:extLst>
              <a:ext uri="{FF2B5EF4-FFF2-40B4-BE49-F238E27FC236}">
                <a16:creationId xmlns:a16="http://schemas.microsoft.com/office/drawing/2014/main" id="{9AE530A6-10A1-8504-AD6E-2698CCA5C971}"/>
              </a:ext>
            </a:extLst>
          </p:cNvPr>
          <p:cNvSpPr/>
          <p:nvPr/>
        </p:nvSpPr>
        <p:spPr>
          <a:xfrm>
            <a:off x="9372600" y="47625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DatabaseHeaderCollection</a:t>
            </a:r>
          </a:p>
        </p:txBody>
      </p:sp>
      <p:sp>
        <p:nvSpPr>
          <p:cNvPr id="97" name="Blockchain.DatabaseBlockCollection">
            <a:extLst>
              <a:ext uri="{FF2B5EF4-FFF2-40B4-BE49-F238E27FC236}">
                <a16:creationId xmlns:a16="http://schemas.microsoft.com/office/drawing/2014/main" id="{BCE7A432-3A88-13D9-3935-3473AA2B521F}"/>
              </a:ext>
            </a:extLst>
          </p:cNvPr>
          <p:cNvSpPr/>
          <p:nvPr/>
        </p:nvSpPr>
        <p:spPr>
          <a:xfrm>
            <a:off x="9372600" y="50927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DatabaseBlockCollection</a:t>
            </a:r>
          </a:p>
        </p:txBody>
      </p:sp>
      <p:cxnSp>
        <p:nvCxnSpPr>
          <p:cNvPr id="98" name="data BlockMessage -&gt; Blocks">
            <a:extLst>
              <a:ext uri="{FF2B5EF4-FFF2-40B4-BE49-F238E27FC236}">
                <a16:creationId xmlns:a16="http://schemas.microsoft.com/office/drawing/2014/main" id="{8C848707-F585-2C27-C1BC-F8A0E60A7BFA}"/>
              </a:ext>
            </a:extLst>
          </p:cNvPr>
          <p:cNvCxnSpPr>
            <a:cxnSpLocks/>
            <a:stCxn id="26" idx="2"/>
            <a:endCxn id="95" idx="0"/>
          </p:cNvCxnSpPr>
          <p:nvPr/>
        </p:nvCxnSpPr>
        <p:spPr>
          <a:xfrm>
            <a:off x="7112000" y="3759200"/>
            <a:ext cx="0" cy="1720850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ata Blocks -&gt; DatabaseHeaderCollection">
            <a:extLst>
              <a:ext uri="{FF2B5EF4-FFF2-40B4-BE49-F238E27FC236}">
                <a16:creationId xmlns:a16="http://schemas.microsoft.com/office/drawing/2014/main" id="{FFDC5CD5-55DC-0569-75CF-74289534E80F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 flipV="1">
            <a:off x="7810500" y="4889500"/>
            <a:ext cx="1562100" cy="71755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data Blocks -&gt; DatabaseBlockCollection">
            <a:extLst>
              <a:ext uri="{FF2B5EF4-FFF2-40B4-BE49-F238E27FC236}">
                <a16:creationId xmlns:a16="http://schemas.microsoft.com/office/drawing/2014/main" id="{EE452774-39F0-DBB4-BF25-318DC4E4B2EA}"/>
              </a:ext>
            </a:extLst>
          </p:cNvPr>
          <p:cNvCxnSpPr>
            <a:cxnSpLocks/>
            <a:stCxn id="95" idx="3"/>
            <a:endCxn id="97" idx="1"/>
          </p:cNvCxnSpPr>
          <p:nvPr/>
        </p:nvCxnSpPr>
        <p:spPr>
          <a:xfrm flipV="1">
            <a:off x="7810500" y="5219700"/>
            <a:ext cx="1562100" cy="38735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oken">
            <a:extLst>
              <a:ext uri="{FF2B5EF4-FFF2-40B4-BE49-F238E27FC236}">
                <a16:creationId xmlns:a16="http://schemas.microsoft.com/office/drawing/2014/main" id="{C0E23E31-36F2-B643-AA80-96D3143676E7}"/>
              </a:ext>
            </a:extLst>
          </p:cNvPr>
          <p:cNvSpPr/>
          <p:nvPr/>
        </p:nvSpPr>
        <p:spPr>
          <a:xfrm>
            <a:off x="9372600" y="5422900"/>
            <a:ext cx="1574800" cy="431800"/>
          </a:xfrm>
          <a:prstGeom prst="roundRect">
            <a:avLst>
              <a:gd name="adj" fmla="val 15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Token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token rules and state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02" name="data Blocks -&gt; Token">
            <a:extLst>
              <a:ext uri="{FF2B5EF4-FFF2-40B4-BE49-F238E27FC236}">
                <a16:creationId xmlns:a16="http://schemas.microsoft.com/office/drawing/2014/main" id="{909BEDCE-F4A2-5DA3-84D2-24AE56B8EE72}"/>
              </a:ext>
            </a:extLst>
          </p:cNvPr>
          <p:cNvCxnSpPr>
            <a:cxnSpLocks/>
            <a:stCxn id="95" idx="3"/>
            <a:endCxn id="101" idx="1"/>
          </p:cNvCxnSpPr>
          <p:nvPr/>
        </p:nvCxnSpPr>
        <p:spPr>
          <a:xfrm>
            <a:off x="7810500" y="5607050"/>
            <a:ext cx="1562100" cy="3175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Branch.HeaderTip">
            <a:extLst>
              <a:ext uri="{FF2B5EF4-FFF2-40B4-BE49-F238E27FC236}">
                <a16:creationId xmlns:a16="http://schemas.microsoft.com/office/drawing/2014/main" id="{1C87B57A-C436-0427-6D5D-76643BFAA630}"/>
              </a:ext>
            </a:extLst>
          </p:cNvPr>
          <p:cNvSpPr/>
          <p:nvPr/>
        </p:nvSpPr>
        <p:spPr>
          <a:xfrm>
            <a:off x="4622800" y="553720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HeaderTip</a:t>
            </a:r>
          </a:p>
        </p:txBody>
      </p:sp>
      <p:sp>
        <p:nvSpPr>
          <p:cNvPr id="110" name="Branch.HeaderRoot">
            <a:extLst>
              <a:ext uri="{FF2B5EF4-FFF2-40B4-BE49-F238E27FC236}">
                <a16:creationId xmlns:a16="http://schemas.microsoft.com/office/drawing/2014/main" id="{936C41C6-BFFB-D835-0AED-03345070854F}"/>
              </a:ext>
            </a:extLst>
          </p:cNvPr>
          <p:cNvSpPr/>
          <p:nvPr/>
        </p:nvSpPr>
        <p:spPr>
          <a:xfrm>
            <a:off x="1574800" y="553720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HeaderRoot</a:t>
            </a:r>
          </a:p>
        </p:txBody>
      </p:sp>
      <p:sp>
        <p:nvSpPr>
          <p:cNvPr id="111" name="Branch.header chain 2">
            <a:extLst>
              <a:ext uri="{FF2B5EF4-FFF2-40B4-BE49-F238E27FC236}">
                <a16:creationId xmlns:a16="http://schemas.microsoft.com/office/drawing/2014/main" id="{14BFDC19-42D2-32D8-5C32-3EBDC6C320BE}"/>
              </a:ext>
            </a:extLst>
          </p:cNvPr>
          <p:cNvSpPr/>
          <p:nvPr/>
        </p:nvSpPr>
        <p:spPr>
          <a:xfrm>
            <a:off x="2184400" y="553720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de-CH" sz="600" b="1">
              <a:solidFill>
                <a:srgbClr val="3B1E7A"/>
              </a:solidFill>
              <a:latin typeface="Consolas" panose="020B0609020204030204" pitchFamily="49" charset="0"/>
            </a:endParaRPr>
          </a:p>
        </p:txBody>
      </p:sp>
      <p:cxnSp>
        <p:nvCxnSpPr>
          <p:cNvPr id="112" name="Branch.header chain link 1">
            <a:extLst>
              <a:ext uri="{FF2B5EF4-FFF2-40B4-BE49-F238E27FC236}">
                <a16:creationId xmlns:a16="http://schemas.microsoft.com/office/drawing/2014/main" id="{34211296-AB01-2E95-67C7-6B49749F6DFC}"/>
              </a:ext>
            </a:extLst>
          </p:cNvPr>
          <p:cNvCxnSpPr>
            <a:cxnSpLocks/>
            <a:stCxn id="110" idx="3"/>
            <a:endCxn id="111" idx="1"/>
          </p:cNvCxnSpPr>
          <p:nvPr/>
        </p:nvCxnSpPr>
        <p:spPr>
          <a:xfrm>
            <a:off x="2082800" y="561340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Branch.header chain 3">
            <a:extLst>
              <a:ext uri="{FF2B5EF4-FFF2-40B4-BE49-F238E27FC236}">
                <a16:creationId xmlns:a16="http://schemas.microsoft.com/office/drawing/2014/main" id="{FDD2A0FE-AA31-094F-E434-4ED935404AA6}"/>
              </a:ext>
            </a:extLst>
          </p:cNvPr>
          <p:cNvSpPr/>
          <p:nvPr/>
        </p:nvSpPr>
        <p:spPr>
          <a:xfrm>
            <a:off x="2794000" y="553720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4" name="Branch.header chain link 2">
            <a:extLst>
              <a:ext uri="{FF2B5EF4-FFF2-40B4-BE49-F238E27FC236}">
                <a16:creationId xmlns:a16="http://schemas.microsoft.com/office/drawing/2014/main" id="{7400F8DD-7F62-2262-0C40-3A003250C12A}"/>
              </a:ext>
            </a:extLst>
          </p:cNvPr>
          <p:cNvCxnSpPr>
            <a:cxnSpLocks/>
            <a:stCxn id="111" idx="3"/>
            <a:endCxn id="113" idx="1"/>
          </p:cNvCxnSpPr>
          <p:nvPr/>
        </p:nvCxnSpPr>
        <p:spPr>
          <a:xfrm>
            <a:off x="2692400" y="561340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Branch.header chain 4">
            <a:extLst>
              <a:ext uri="{FF2B5EF4-FFF2-40B4-BE49-F238E27FC236}">
                <a16:creationId xmlns:a16="http://schemas.microsoft.com/office/drawing/2014/main" id="{0E007559-1875-6436-4856-465999500C61}"/>
              </a:ext>
            </a:extLst>
          </p:cNvPr>
          <p:cNvSpPr/>
          <p:nvPr/>
        </p:nvSpPr>
        <p:spPr>
          <a:xfrm>
            <a:off x="3403600" y="553720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de-CH" sz="600" b="1">
              <a:solidFill>
                <a:srgbClr val="3B1E7A"/>
              </a:solidFill>
              <a:latin typeface="Consolas" panose="020B0609020204030204" pitchFamily="49" charset="0"/>
            </a:endParaRPr>
          </a:p>
        </p:txBody>
      </p:sp>
      <p:cxnSp>
        <p:nvCxnSpPr>
          <p:cNvPr id="116" name="Branch.header chain link 3">
            <a:extLst>
              <a:ext uri="{FF2B5EF4-FFF2-40B4-BE49-F238E27FC236}">
                <a16:creationId xmlns:a16="http://schemas.microsoft.com/office/drawing/2014/main" id="{C8216F21-0373-D68B-0472-B86676091A64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>
            <a:off x="3302000" y="561340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ranch child 1">
            <a:extLst>
              <a:ext uri="{FF2B5EF4-FFF2-40B4-BE49-F238E27FC236}">
                <a16:creationId xmlns:a16="http://schemas.microsoft.com/office/drawing/2014/main" id="{96A7593F-CC2F-E83E-D9CC-44FB85C01AD9}"/>
              </a:ext>
            </a:extLst>
          </p:cNvPr>
          <p:cNvSpPr/>
          <p:nvPr/>
        </p:nvSpPr>
        <p:spPr>
          <a:xfrm>
            <a:off x="968235" y="5816600"/>
            <a:ext cx="2003565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9" name="Branch child 2">
            <a:extLst>
              <a:ext uri="{FF2B5EF4-FFF2-40B4-BE49-F238E27FC236}">
                <a16:creationId xmlns:a16="http://schemas.microsoft.com/office/drawing/2014/main" id="{2CAE123B-2F0C-BEB1-F7DC-A53D24657CC2}"/>
              </a:ext>
            </a:extLst>
          </p:cNvPr>
          <p:cNvSpPr/>
          <p:nvPr/>
        </p:nvSpPr>
        <p:spPr>
          <a:xfrm>
            <a:off x="4343400" y="5816600"/>
            <a:ext cx="2003565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2" name="Branch grandchild 1.2">
            <a:extLst>
              <a:ext uri="{FF2B5EF4-FFF2-40B4-BE49-F238E27FC236}">
                <a16:creationId xmlns:a16="http://schemas.microsoft.com/office/drawing/2014/main" id="{C2EB0164-371C-D566-AD32-2A01EC6427B6}"/>
              </a:ext>
            </a:extLst>
          </p:cNvPr>
          <p:cNvSpPr/>
          <p:nvPr/>
        </p:nvSpPr>
        <p:spPr>
          <a:xfrm>
            <a:off x="2095500" y="6045200"/>
            <a:ext cx="762000" cy="254000"/>
          </a:xfrm>
          <a:prstGeom prst="roundRect">
            <a:avLst>
              <a:gd name="adj" fmla="val 20000"/>
            </a:avLst>
          </a:prstGeom>
          <a:solidFill>
            <a:srgbClr val="8C6BE0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4" name="Branch child 1.header 1">
            <a:extLst>
              <a:ext uri="{FF2B5EF4-FFF2-40B4-BE49-F238E27FC236}">
                <a16:creationId xmlns:a16="http://schemas.microsoft.com/office/drawing/2014/main" id="{FCB3E271-1E75-69D9-4458-2D2B7EA7F99F}"/>
              </a:ext>
            </a:extLst>
          </p:cNvPr>
          <p:cNvSpPr/>
          <p:nvPr/>
        </p:nvSpPr>
        <p:spPr>
          <a:xfrm>
            <a:off x="2006600" y="58928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5" name="Branch child 1.header 2">
            <a:extLst>
              <a:ext uri="{FF2B5EF4-FFF2-40B4-BE49-F238E27FC236}">
                <a16:creationId xmlns:a16="http://schemas.microsoft.com/office/drawing/2014/main" id="{ECD21137-BB4D-A1BA-60F8-898DACA39C8B}"/>
              </a:ext>
            </a:extLst>
          </p:cNvPr>
          <p:cNvSpPr/>
          <p:nvPr/>
        </p:nvSpPr>
        <p:spPr>
          <a:xfrm>
            <a:off x="2311400" y="58928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7" name="Branch child 1.header 3">
            <a:extLst>
              <a:ext uri="{FF2B5EF4-FFF2-40B4-BE49-F238E27FC236}">
                <a16:creationId xmlns:a16="http://schemas.microsoft.com/office/drawing/2014/main" id="{F7827AB9-99F9-4565-DB78-8F2F553F0393}"/>
              </a:ext>
            </a:extLst>
          </p:cNvPr>
          <p:cNvSpPr/>
          <p:nvPr/>
        </p:nvSpPr>
        <p:spPr>
          <a:xfrm>
            <a:off x="2616200" y="58928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26" name="Branch child 1.header link 1">
            <a:extLst>
              <a:ext uri="{FF2B5EF4-FFF2-40B4-BE49-F238E27FC236}">
                <a16:creationId xmlns:a16="http://schemas.microsoft.com/office/drawing/2014/main" id="{187B19C2-6405-25CB-D32B-7AC44CA4EE60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>
            <a:off x="2260600" y="59309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Branch child 1.header link 2">
            <a:extLst>
              <a:ext uri="{FF2B5EF4-FFF2-40B4-BE49-F238E27FC236}">
                <a16:creationId xmlns:a16="http://schemas.microsoft.com/office/drawing/2014/main" id="{0F420FA5-BA83-91E1-366A-13BD9CB506D6}"/>
              </a:ext>
            </a:extLst>
          </p:cNvPr>
          <p:cNvCxnSpPr>
            <a:cxnSpLocks/>
            <a:stCxn id="125" idx="3"/>
            <a:endCxn id="127" idx="1"/>
          </p:cNvCxnSpPr>
          <p:nvPr/>
        </p:nvCxnSpPr>
        <p:spPr>
          <a:xfrm>
            <a:off x="2565400" y="59309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Branch grandchild 1.2.header 1">
            <a:extLst>
              <a:ext uri="{FF2B5EF4-FFF2-40B4-BE49-F238E27FC236}">
                <a16:creationId xmlns:a16="http://schemas.microsoft.com/office/drawing/2014/main" id="{42097D8F-BBC8-2E22-4EDC-95522471CC29}"/>
              </a:ext>
            </a:extLst>
          </p:cNvPr>
          <p:cNvSpPr/>
          <p:nvPr/>
        </p:nvSpPr>
        <p:spPr>
          <a:xfrm>
            <a:off x="2201333" y="6108700"/>
            <a:ext cx="169333" cy="508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3" name="Branch grandchild 1.2.header 2">
            <a:extLst>
              <a:ext uri="{FF2B5EF4-FFF2-40B4-BE49-F238E27FC236}">
                <a16:creationId xmlns:a16="http://schemas.microsoft.com/office/drawing/2014/main" id="{44B94ECC-9180-B254-C628-9D535AB6F930}"/>
              </a:ext>
            </a:extLst>
          </p:cNvPr>
          <p:cNvSpPr/>
          <p:nvPr/>
        </p:nvSpPr>
        <p:spPr>
          <a:xfrm>
            <a:off x="2404533" y="6108700"/>
            <a:ext cx="169333" cy="508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34" name="Branch grandchild 1.2.header link 1">
            <a:extLst>
              <a:ext uri="{FF2B5EF4-FFF2-40B4-BE49-F238E27FC236}">
                <a16:creationId xmlns:a16="http://schemas.microsoft.com/office/drawing/2014/main" id="{E409BA0A-56B5-4820-1C50-6615CF298D06}"/>
              </a:ext>
            </a:extLst>
          </p:cNvPr>
          <p:cNvCxnSpPr>
            <a:cxnSpLocks/>
            <a:stCxn id="132" idx="3"/>
            <a:endCxn id="133" idx="1"/>
          </p:cNvCxnSpPr>
          <p:nvPr/>
        </p:nvCxnSpPr>
        <p:spPr>
          <a:xfrm>
            <a:off x="2370666" y="6134100"/>
            <a:ext cx="33867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Branch child 2.header 1">
            <a:extLst>
              <a:ext uri="{FF2B5EF4-FFF2-40B4-BE49-F238E27FC236}">
                <a16:creationId xmlns:a16="http://schemas.microsoft.com/office/drawing/2014/main" id="{92B60BBA-B161-0AE9-DFF2-4DBA063F77E6}"/>
              </a:ext>
            </a:extLst>
          </p:cNvPr>
          <p:cNvSpPr/>
          <p:nvPr/>
        </p:nvSpPr>
        <p:spPr>
          <a:xfrm>
            <a:off x="4445000" y="58928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0" name="Branch child 2.header 2">
            <a:extLst>
              <a:ext uri="{FF2B5EF4-FFF2-40B4-BE49-F238E27FC236}">
                <a16:creationId xmlns:a16="http://schemas.microsoft.com/office/drawing/2014/main" id="{2E29E53A-7ADA-8FD5-A9ED-33112CC91A32}"/>
              </a:ext>
            </a:extLst>
          </p:cNvPr>
          <p:cNvSpPr/>
          <p:nvPr/>
        </p:nvSpPr>
        <p:spPr>
          <a:xfrm>
            <a:off x="4749800" y="58928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1" name="Branch child 2.header 3">
            <a:extLst>
              <a:ext uri="{FF2B5EF4-FFF2-40B4-BE49-F238E27FC236}">
                <a16:creationId xmlns:a16="http://schemas.microsoft.com/office/drawing/2014/main" id="{228142ED-5778-2DE6-9859-6130838B31F8}"/>
              </a:ext>
            </a:extLst>
          </p:cNvPr>
          <p:cNvSpPr/>
          <p:nvPr/>
        </p:nvSpPr>
        <p:spPr>
          <a:xfrm>
            <a:off x="5054600" y="58928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52" name="Branch child 2.header link 1">
            <a:extLst>
              <a:ext uri="{FF2B5EF4-FFF2-40B4-BE49-F238E27FC236}">
                <a16:creationId xmlns:a16="http://schemas.microsoft.com/office/drawing/2014/main" id="{7765676C-D555-03B9-9FCD-90BEB42087A4}"/>
              </a:ext>
            </a:extLst>
          </p:cNvPr>
          <p:cNvCxnSpPr>
            <a:cxnSpLocks/>
            <a:stCxn id="149" idx="3"/>
            <a:endCxn id="150" idx="1"/>
          </p:cNvCxnSpPr>
          <p:nvPr/>
        </p:nvCxnSpPr>
        <p:spPr>
          <a:xfrm>
            <a:off x="4699000" y="59309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Branch child 2.header link 2">
            <a:extLst>
              <a:ext uri="{FF2B5EF4-FFF2-40B4-BE49-F238E27FC236}">
                <a16:creationId xmlns:a16="http://schemas.microsoft.com/office/drawing/2014/main" id="{E10B08D9-F419-E65A-0F00-3206FC175EA9}"/>
              </a:ext>
            </a:extLst>
          </p:cNvPr>
          <p:cNvCxnSpPr>
            <a:cxnSpLocks/>
            <a:stCxn id="150" idx="3"/>
            <a:endCxn id="151" idx="1"/>
          </p:cNvCxnSpPr>
          <p:nvPr/>
        </p:nvCxnSpPr>
        <p:spPr>
          <a:xfrm>
            <a:off x="5003800" y="59309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label Branch child 2">
            <a:extLst>
              <a:ext uri="{FF2B5EF4-FFF2-40B4-BE49-F238E27FC236}">
                <a16:creationId xmlns:a16="http://schemas.microsoft.com/office/drawing/2014/main" id="{42FAE53B-DCED-934C-EFFB-62896D8D5F40}"/>
              </a:ext>
            </a:extLst>
          </p:cNvPr>
          <p:cNvSpPr txBox="1"/>
          <p:nvPr/>
        </p:nvSpPr>
        <p:spPr>
          <a:xfrm>
            <a:off x="1064865" y="5861650"/>
            <a:ext cx="835165" cy="1384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de-CH" sz="900" i="1" dirty="0" err="1">
                <a:solidFill>
                  <a:srgbClr val="3B1E7A"/>
                </a:solidFill>
                <a:latin typeface="Segoe UI" panose="020B0502040204020203" pitchFamily="34" charset="0"/>
              </a:rPr>
              <a:t>header</a:t>
            </a:r>
            <a:r>
              <a:rPr lang="de-CH" sz="900" i="1" dirty="0">
                <a:solidFill>
                  <a:srgbClr val="3B1E7A"/>
                </a:solidFill>
                <a:latin typeface="Segoe UI" panose="020B0502040204020203" pitchFamily="34" charset="0"/>
              </a:rPr>
              <a:t> </a:t>
            </a:r>
            <a:r>
              <a:rPr lang="de-CH" sz="900" i="1" dirty="0" err="1">
                <a:solidFill>
                  <a:srgbClr val="3B1E7A"/>
                </a:solidFill>
                <a:latin typeface="Segoe UI" panose="020B0502040204020203" pitchFamily="34" charset="0"/>
              </a:rPr>
              <a:t>tree</a:t>
            </a:r>
            <a:r>
              <a:rPr lang="de-CH" sz="900" i="1" dirty="0">
                <a:solidFill>
                  <a:srgbClr val="3B1E7A"/>
                </a:solidFill>
                <a:latin typeface="Segoe UI" panose="020B0502040204020203" pitchFamily="34" charset="0"/>
              </a:rPr>
              <a:t> </a:t>
            </a:r>
            <a:r>
              <a:rPr lang="de-CH" sz="900" i="1" dirty="0" err="1">
                <a:solidFill>
                  <a:srgbClr val="3B1E7A"/>
                </a:solidFill>
                <a:latin typeface="Segoe UI" panose="020B0502040204020203" pitchFamily="34" charset="0"/>
              </a:rPr>
              <a:t>child</a:t>
            </a:r>
            <a:endParaRPr lang="de-CH" sz="900" i="1" dirty="0">
              <a:solidFill>
                <a:srgbClr val="3B1E7A"/>
              </a:solidFill>
              <a:latin typeface="Segoe UI" panose="020B0502040204020203" pitchFamily="34" charset="0"/>
            </a:endParaRPr>
          </a:p>
        </p:txBody>
      </p:sp>
      <p:cxnSp>
        <p:nvCxnSpPr>
          <p:cNvPr id="158" name="Branch.header chain link 4">
            <a:extLst>
              <a:ext uri="{FF2B5EF4-FFF2-40B4-BE49-F238E27FC236}">
                <a16:creationId xmlns:a16="http://schemas.microsoft.com/office/drawing/2014/main" id="{92BCC3D5-4ECA-D80E-C794-8513069B0D6C}"/>
              </a:ext>
            </a:extLst>
          </p:cNvPr>
          <p:cNvCxnSpPr>
            <a:cxnSpLocks/>
            <a:stCxn id="115" idx="3"/>
            <a:endCxn id="166" idx="1"/>
          </p:cNvCxnSpPr>
          <p:nvPr/>
        </p:nvCxnSpPr>
        <p:spPr>
          <a:xfrm>
            <a:off x="3911600" y="561340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data HeadersMessage -&gt; HeaderTip">
            <a:extLst>
              <a:ext uri="{FF2B5EF4-FFF2-40B4-BE49-F238E27FC236}">
                <a16:creationId xmlns:a16="http://schemas.microsoft.com/office/drawing/2014/main" id="{A4C0C2FD-A67C-F747-0707-3ED047778020}"/>
              </a:ext>
            </a:extLst>
          </p:cNvPr>
          <p:cNvCxnSpPr>
            <a:cxnSpLocks/>
          </p:cNvCxnSpPr>
          <p:nvPr/>
        </p:nvCxnSpPr>
        <p:spPr>
          <a:xfrm>
            <a:off x="4876800" y="3759200"/>
            <a:ext cx="0" cy="1778000"/>
          </a:xfrm>
          <a:prstGeom prst="straightConnector1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fork root -&gt; child 1">
            <a:extLst>
              <a:ext uri="{FF2B5EF4-FFF2-40B4-BE49-F238E27FC236}">
                <a16:creationId xmlns:a16="http://schemas.microsoft.com/office/drawing/2014/main" id="{81CE095D-5D83-9184-217D-8A0657474FE6}"/>
              </a:ext>
            </a:extLst>
          </p:cNvPr>
          <p:cNvCxnSpPr>
            <a:cxnSpLocks/>
          </p:cNvCxnSpPr>
          <p:nvPr/>
        </p:nvCxnSpPr>
        <p:spPr>
          <a:xfrm>
            <a:off x="2133600" y="5613400"/>
            <a:ext cx="0" cy="2794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fork root -&gt; child 2">
            <a:extLst>
              <a:ext uri="{FF2B5EF4-FFF2-40B4-BE49-F238E27FC236}">
                <a16:creationId xmlns:a16="http://schemas.microsoft.com/office/drawing/2014/main" id="{7AD9CD69-EDD3-2D2B-7FB1-DF9AE3E69908}"/>
              </a:ext>
            </a:extLst>
          </p:cNvPr>
          <p:cNvCxnSpPr>
            <a:cxnSpLocks/>
          </p:cNvCxnSpPr>
          <p:nvPr/>
        </p:nvCxnSpPr>
        <p:spPr>
          <a:xfrm>
            <a:off x="4572000" y="5613400"/>
            <a:ext cx="0" cy="2794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fork child 1 -&gt; grandchild 1.2">
            <a:extLst>
              <a:ext uri="{FF2B5EF4-FFF2-40B4-BE49-F238E27FC236}">
                <a16:creationId xmlns:a16="http://schemas.microsoft.com/office/drawing/2014/main" id="{9EA54941-7424-CB06-718D-64972336D049}"/>
              </a:ext>
            </a:extLst>
          </p:cNvPr>
          <p:cNvCxnSpPr>
            <a:cxnSpLocks/>
          </p:cNvCxnSpPr>
          <p:nvPr/>
        </p:nvCxnSpPr>
        <p:spPr>
          <a:xfrm>
            <a:off x="2286000" y="5930900"/>
            <a:ext cx="0" cy="177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Branch.header chain 5">
            <a:extLst>
              <a:ext uri="{FF2B5EF4-FFF2-40B4-BE49-F238E27FC236}">
                <a16:creationId xmlns:a16="http://schemas.microsoft.com/office/drawing/2014/main" id="{7332F24B-144B-6C65-A9EB-FBAAC5499DCB}"/>
              </a:ext>
            </a:extLst>
          </p:cNvPr>
          <p:cNvSpPr/>
          <p:nvPr/>
        </p:nvSpPr>
        <p:spPr>
          <a:xfrm>
            <a:off x="4013200" y="553720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67" name="Branch.header chain link 5">
            <a:extLst>
              <a:ext uri="{FF2B5EF4-FFF2-40B4-BE49-F238E27FC236}">
                <a16:creationId xmlns:a16="http://schemas.microsoft.com/office/drawing/2014/main" id="{CC67833F-EF6C-ECCC-08C0-62B9910FDEE5}"/>
              </a:ext>
            </a:extLst>
          </p:cNvPr>
          <p:cNvCxnSpPr>
            <a:cxnSpLocks/>
            <a:stCxn id="166" idx="3"/>
            <a:endCxn id="103" idx="1"/>
          </p:cNvCxnSpPr>
          <p:nvPr/>
        </p:nvCxnSpPr>
        <p:spPr>
          <a:xfrm>
            <a:off x="4521200" y="561340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Branch.AdvanceTipBlockchain">
            <a:extLst>
              <a:ext uri="{FF2B5EF4-FFF2-40B4-BE49-F238E27FC236}">
                <a16:creationId xmlns:a16="http://schemas.microsoft.com/office/drawing/2014/main" id="{8431A813-A47F-8A64-4C9C-875AC26C2842}"/>
              </a:ext>
            </a:extLst>
          </p:cNvPr>
          <p:cNvSpPr/>
          <p:nvPr/>
        </p:nvSpPr>
        <p:spPr>
          <a:xfrm>
            <a:off x="1879600" y="4775200"/>
            <a:ext cx="1117600" cy="55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25400" rIns="25400" bIns="0" rtlCol="0" anchor="t"/>
          <a:lstStyle/>
          <a:p>
            <a:pPr algn="ctr"/>
            <a:r>
              <a:rPr lang="en-US" sz="700" b="1">
                <a:solidFill>
                  <a:srgbClr val="3B1E7A"/>
                </a:solidFill>
                <a:latin typeface="Consolas" panose="020B0609020204030204" pitchFamily="49" charset="0"/>
              </a:rPr>
              <a:t>AdvanceTipBlockchain</a:t>
            </a:r>
          </a:p>
          <a:p>
            <a:pPr algn="ctr"/>
            <a:r>
              <a:rPr lang="en-US" sz="650">
                <a:solidFill>
                  <a:srgbClr val="64748B"/>
                </a:solidFill>
                <a:latin typeface="Consolas" panose="020B0609020204030204" pitchFamily="49" charset="0"/>
              </a:rPr>
              <a:t>follows gapless Blocks</a:t>
            </a:r>
          </a:p>
          <a:p>
            <a:pPr algn="ctr"/>
            <a:r>
              <a:rPr lang="en-US" sz="650">
                <a:solidFill>
                  <a:srgbClr val="64748B"/>
                </a:solidFill>
                <a:latin typeface="Consolas" panose="020B0609020204030204" pitchFamily="49" charset="0"/>
              </a:rPr>
              <a:t>stronger tip → reorg</a:t>
            </a:r>
            <a:endParaRPr lang="de-CH" sz="6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171" name="Branch.HeaderTipBlockchain">
            <a:extLst>
              <a:ext uri="{FF2B5EF4-FFF2-40B4-BE49-F238E27FC236}">
                <a16:creationId xmlns:a16="http://schemas.microsoft.com/office/drawing/2014/main" id="{A5872FF5-D932-5FB2-4272-403788DC913D}"/>
              </a:ext>
            </a:extLst>
          </p:cNvPr>
          <p:cNvSpPr/>
          <p:nvPr/>
        </p:nvSpPr>
        <p:spPr>
          <a:xfrm>
            <a:off x="1993900" y="5156200"/>
            <a:ext cx="889000" cy="1270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HeaderTipBlockchain</a:t>
            </a:r>
          </a:p>
        </p:txBody>
      </p:sp>
      <p:cxnSp>
        <p:nvCxnSpPr>
          <p:cNvPr id="172" name="ref HeaderTipBlockchain -&gt; header">
            <a:extLst>
              <a:ext uri="{FF2B5EF4-FFF2-40B4-BE49-F238E27FC236}">
                <a16:creationId xmlns:a16="http://schemas.microsoft.com/office/drawing/2014/main" id="{5B2F41E5-7A22-54CA-E5D0-A276D292D330}"/>
              </a:ext>
            </a:extLst>
          </p:cNvPr>
          <p:cNvCxnSpPr>
            <a:cxnSpLocks/>
            <a:stCxn id="171" idx="2"/>
            <a:endCxn id="111" idx="0"/>
          </p:cNvCxnSpPr>
          <p:nvPr/>
        </p:nvCxnSpPr>
        <p:spPr>
          <a:xfrm>
            <a:off x="2438400" y="5283200"/>
            <a:ext cx="0" cy="254000"/>
          </a:xfrm>
          <a:prstGeom prst="straightConnector1">
            <a:avLst/>
          </a:prstGeom>
          <a:ln w="9525">
            <a:solidFill>
              <a:srgbClr val="6D28D9"/>
            </a:solidFill>
            <a:headEnd type="oval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</Words>
  <Application>Microsoft Office PowerPoint</Application>
  <PresentationFormat>Breitbild</PresentationFormat>
  <Paragraphs>73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Data Flow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45</cp:revision>
  <dcterms:created xsi:type="dcterms:W3CDTF">2026-10-02T10:39:19Z</dcterms:created>
  <dcterms:modified xsi:type="dcterms:W3CDTF">2026-10-03T20:34:52Z</dcterms:modified>
</cp:coreProperties>
</file>