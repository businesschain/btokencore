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2352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7" name="Branch stack 2">
            <a:extLst>
              <a:ext uri="{FF2B5EF4-FFF2-40B4-BE49-F238E27FC236}">
                <a16:creationId xmlns:a16="http://schemas.microsoft.com/office/drawing/2014/main" id="{B9A5B999-A70F-5E6F-111D-CC011F6537D2}"/>
              </a:ext>
            </a:extLst>
          </p:cNvPr>
          <p:cNvSpPr/>
          <p:nvPr/>
        </p:nvSpPr>
        <p:spPr>
          <a:xfrm>
            <a:off x="2057400" y="53594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>
              <a:alpha val="40000"/>
            </a:srgbClr>
          </a:solidFill>
          <a:ln w="15875" cap="flat" cmpd="sng" algn="ctr">
            <a:solidFill>
              <a:srgbClr val="6D28D9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Branch stack 1">
            <a:extLst>
              <a:ext uri="{FF2B5EF4-FFF2-40B4-BE49-F238E27FC236}">
                <a16:creationId xmlns:a16="http://schemas.microsoft.com/office/drawing/2014/main" id="{FE257874-1467-BC62-F569-BD6AFF9D1BCF}"/>
              </a:ext>
            </a:extLst>
          </p:cNvPr>
          <p:cNvSpPr/>
          <p:nvPr/>
        </p:nvSpPr>
        <p:spPr>
          <a:xfrm>
            <a:off x="1981200" y="53086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>
              <a:alpha val="70000"/>
            </a:srgbClr>
          </a:solidFill>
          <a:ln w="15875" cap="flat" cmpd="sng" algn="ctr">
            <a:solidFill>
              <a:srgbClr val="6D28D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>
                <a:solidFill>
                  <a:srgbClr val="1E293B"/>
                </a:solidFill>
                <a:latin typeface="Segoe UI Semibold" panose="020B0702040204020203" pitchFamily="34" charset="0"/>
              </a:rPr>
              <a:t>Overview State Synchronization</a:t>
            </a:r>
            <a:endParaRPr lang="en-US" sz="26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Network.StartBlockDownloadDispatcher">
            <a:extLst>
              <a:ext uri="{FF2B5EF4-FFF2-40B4-BE49-F238E27FC236}">
                <a16:creationId xmlns:a16="http://schemas.microsoft.com/office/drawing/2014/main" id="{18467037-D91B-27F5-BAED-214B82560EBB}"/>
              </a:ext>
            </a:extLst>
          </p:cNvPr>
          <p:cNvSpPr/>
          <p:nvPr/>
        </p:nvSpPr>
        <p:spPr>
          <a:xfrm>
            <a:off x="8890000" y="3238500"/>
            <a:ext cx="2540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0F766E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assign block downloads peers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7924266" y="4279900"/>
            <a:ext cx="1423467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46" name="Blockchain.TryExtendHeaderchain">
            <a:extLst>
              <a:ext uri="{FF2B5EF4-FFF2-40B4-BE49-F238E27FC236}">
                <a16:creationId xmlns:a16="http://schemas.microsoft.com/office/drawing/2014/main" id="{F58B07B6-4DA8-B3D5-8BCE-C60815B1D8CE}"/>
              </a:ext>
            </a:extLst>
          </p:cNvPr>
          <p:cNvSpPr/>
          <p:nvPr/>
        </p:nvSpPr>
        <p:spPr>
          <a:xfrm>
            <a:off x="3302000" y="4673600"/>
            <a:ext cx="2286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Blockchain.GetHeaderDownload">
            <a:extLst>
              <a:ext uri="{FF2B5EF4-FFF2-40B4-BE49-F238E27FC236}">
                <a16:creationId xmlns:a16="http://schemas.microsoft.com/office/drawing/2014/main" id="{14B938D7-7B15-588E-CB46-4437F4EA3919}"/>
              </a:ext>
            </a:extLst>
          </p:cNvPr>
          <p:cNvSpPr/>
          <p:nvPr/>
        </p:nvSpPr>
        <p:spPr>
          <a:xfrm>
            <a:off x="9080500" y="4673600"/>
            <a:ext cx="2159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pick next block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Blockchain.InsertBlockReturnNextBlock">
            <a:extLst>
              <a:ext uri="{FF2B5EF4-FFF2-40B4-BE49-F238E27FC236}">
                <a16:creationId xmlns:a16="http://schemas.microsoft.com/office/drawing/2014/main" id="{C5D7D2A4-85AF-6B33-102B-3F54A0A502D2}"/>
              </a:ext>
            </a:extLst>
          </p:cNvPr>
          <p:cNvSpPr/>
          <p:nvPr/>
        </p:nvSpPr>
        <p:spPr>
          <a:xfrm>
            <a:off x="5842000" y="4673600"/>
            <a:ext cx="2540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 dirty="0" err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 dirty="0">
                <a:solidFill>
                  <a:srgbClr val="64748B"/>
                </a:solidFill>
                <a:latin typeface="Consolas" panose="020B0609020204030204" pitchFamily="49" charset="0"/>
              </a:rPr>
              <a:t>insert block, pick next</a:t>
            </a:r>
          </a:p>
        </p:txBody>
      </p:sp>
      <p:sp>
        <p:nvSpPr>
          <p:cNvPr id="49" name="Blockchain.InsertBlock">
            <a:extLst>
              <a:ext uri="{FF2B5EF4-FFF2-40B4-BE49-F238E27FC236}">
                <a16:creationId xmlns:a16="http://schemas.microsoft.com/office/drawing/2014/main" id="{CE4300EB-5654-2A9C-BA0B-253C8A6CC4C0}"/>
              </a:ext>
            </a:extLst>
          </p:cNvPr>
          <p:cNvSpPr/>
          <p:nvPr/>
        </p:nvSpPr>
        <p:spPr>
          <a:xfrm>
            <a:off x="6350000" y="5689600"/>
            <a:ext cx="1524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apply and store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1905000" y="52578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2088966" y="5295900"/>
            <a:ext cx="2172069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endParaRPr lang="en-US" sz="1000" dirty="0">
              <a:solidFill>
                <a:srgbClr val="3B1E7A"/>
              </a:solidFill>
              <a:latin typeface="Segoe UI Semibold" panose="020B0702040204020203" pitchFamily="34" charset="0"/>
            </a:endParaRP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header tree segment, top one = BranchRoot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2" name="Branch.TryExtendHeaderchain">
            <a:extLst>
              <a:ext uri="{FF2B5EF4-FFF2-40B4-BE49-F238E27FC236}">
                <a16:creationId xmlns:a16="http://schemas.microsoft.com/office/drawing/2014/main" id="{2AEA1E30-272F-8D1B-8993-7869AFDAA9CA}"/>
              </a:ext>
            </a:extLst>
          </p:cNvPr>
          <p:cNvSpPr/>
          <p:nvPr/>
        </p:nvSpPr>
        <p:spPr>
          <a:xfrm>
            <a:off x="3302000" y="5689600"/>
            <a:ext cx="2286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C3D98490-5214-03DE-5211-03F9591FE8EE}"/>
              </a:ext>
            </a:extLst>
          </p:cNvPr>
          <p:cNvCxnSpPr>
            <a:cxnSpLocks/>
            <a:stCxn id="10" idx="2"/>
            <a:endCxn id="46" idx="0"/>
          </p:cNvCxnSpPr>
          <p:nvPr/>
        </p:nvCxnSpPr>
        <p:spPr>
          <a:xfrm>
            <a:off x="4445000" y="3759200"/>
            <a:ext cx="0" cy="9144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03E96F5-C079-073E-AE53-A92EE888EF47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>
            <a:off x="4445000" y="51308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2D57256-F9F1-4894-95FE-E6F452DD3384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10160000" y="3695700"/>
            <a:ext cx="0" cy="9779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611DD8D7-C40C-CA0F-933A-24F5CE46AF70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>
            <a:off x="7112000" y="3759200"/>
            <a:ext cx="0" cy="9144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51A9785-230B-8D03-A55E-126283CCE46D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7112000" y="51308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029883" y="2628900"/>
            <a:ext cx="2260234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manages peers, dispatches block downloads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call StartBlockDownloadDispatcher -&gt; BlockMessage">
            <a:extLst>
              <a:ext uri="{FF2B5EF4-FFF2-40B4-BE49-F238E27FC236}">
                <a16:creationId xmlns:a16="http://schemas.microsoft.com/office/drawing/2014/main" id="{49B8C8A8-F716-B148-B87D-EA5EB0CAEAF3}"/>
              </a:ext>
            </a:extLst>
          </p:cNvPr>
          <p:cNvCxnSpPr>
            <a:cxnSpLocks/>
            <a:stCxn id="43" idx="1"/>
            <a:endCxn id="26" idx="3"/>
          </p:cNvCxnSpPr>
          <p:nvPr/>
        </p:nvCxnSpPr>
        <p:spPr>
          <a:xfrm flipH="1">
            <a:off x="8255000" y="3467100"/>
            <a:ext cx="6350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</Words>
  <Application>Microsoft Office PowerPoint</Application>
  <PresentationFormat>Breitbild</PresentationFormat>
  <Paragraphs>73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State Synchronization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37</cp:revision>
  <dcterms:created xsi:type="dcterms:W3CDTF">2026-10-02T10:39:19Z</dcterms:created>
  <dcterms:modified xsi:type="dcterms:W3CDTF">2026-10-02T21:20:36Z</dcterms:modified>
</cp:coreProperties>
</file>