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7B36A3B-A26B-4B9A-99B8-64D153E268EF}">
          <p14:sldIdLst/>
        </p14:section>
        <p14:section name="Overview" id="{D4159ECE-CEC8-4DFB-A155-46081E81C210}">
          <p14:sldIdLst>
            <p14:sldId id="257"/>
          </p14:sldIdLst>
        </p14:section>
        <p14:section name="Phases" id="{1A1B7110-D5F4-45F9-A691-391FF7D810E4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78E16-16E3-9FFA-46E9-F04154DAA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E66963D-8C6F-3EAA-A748-7A3CE4C59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5555E1-E54C-6198-1939-F1641678E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424D8C-C9C2-C380-A3CC-BF9C1C52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404149-30EB-FEA5-125C-6C992042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086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EFFAD-3B5B-B294-F806-1AE8793D4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6C83A3-2513-E5BD-2061-787AB5C4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21123C-2BFF-451B-63BE-08921AAE5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08044B-1E3F-7BF3-DAE1-7C51626F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43EA45-09DB-BAD9-FDF7-9C526370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36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D55B3-AFBA-DF6D-B72E-319C70B6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729E01-548C-096E-C171-7AC1A492E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E30E51-B53B-BC7F-4051-F4209282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806A49-B556-A05C-06A3-3D16894D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A6A1B3-EFC3-B5E8-986E-1CBC1396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0122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9F71A7-D740-B33E-F53D-A73C63EC2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A50281-0B45-C64E-C9AA-843644665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AEDFA43-9CE4-F310-BA55-969D6E9A7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23B208-42EA-3AE7-E027-4283DFB1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D3C5AD-A801-71C2-045D-7C95AB69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99835C-9259-77A2-3827-9E5C5D21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6695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660E8-0745-B414-FEF3-BD5B88DB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3ED3B6-ADC1-241A-0E0F-3191E114B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D7E292-A785-C353-5014-39BAFB3C5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51E557-475B-2168-7243-6EAD45715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C8AAC69-DC61-A45E-2C93-69BA67851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F1F1D6B-51A8-E3C9-E82B-54DBDACF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362C5A0-2005-F1CE-763D-7738C9F3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54E9940-9A90-3B4A-85F8-513EC567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457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26F64F-0A13-D16F-28EB-B46B0329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426FF51-5958-A3A1-FC4A-C7B183F7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8D921D2-2F04-3BB7-105E-6C22EBB5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2F4160-E6BF-4EFD-7AA6-90DC1D48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808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82F5ABB-D955-2333-0DAF-AC410AB9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6F3E5E-D564-FB9F-56A7-BF5384EE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409428-C834-5DC6-D426-40C6E9D6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946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C1F57F-C9C2-F75E-462E-B724E99B9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FB381-9625-3B39-67D6-47C7AE6DB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BF1C7B-DC7A-CF41-87A9-35877F426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C18A84-7137-89C1-E890-F9AFA2E6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AE4CC-4C56-C6A7-C7A4-1C6905ED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EF36F2-8678-17FB-95D0-0BCC456D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2451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CBE7D8-0009-CEAE-F519-E1F6DD541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860DDAA-F60A-6F05-AE84-75A54F28A85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5F67091-B889-807B-1DB1-EAA2CA492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2AD8A2-CD22-60DC-139F-934732EF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39B40C-005B-6E45-7232-14E4CADA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A60AE2-DFF5-7F83-6E15-B2C7B379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80234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5DA7BB-F526-D94D-1A30-913B849F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FE2CF9-CAA7-8189-B534-98CC65364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0FBEAA-0F8E-6AB0-CA71-C8D5815E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67163D-1DDF-F4E3-A170-AB558B79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09207-4555-1091-7F30-188526F8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805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9FCAA9B-CFFA-B3CA-551C-5463BE819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FB90AC-7F31-0571-36D5-266AEF4DC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ED1E13-3273-A24C-85B7-19A7A1F7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F459F-75FD-B4E8-FFCD-1BB17FFB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6ED4CE-4E14-C676-9B0B-13F9E3390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533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229C0FF-0EF3-C254-CFEB-451A3F4A9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7986C4-FFED-7317-F988-ED1C0C9A1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AFB0D8-E022-B54E-54C5-5B97C549F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3978C2-D79E-4344-953B-5E14B180A938}" type="datetimeFigureOut">
              <a:rPr lang="de-CH" smtClean="0"/>
              <a:t>02.10.2026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4841-4963-8A4E-E9AA-6319E68DE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BB9730-A4A4-9DF0-59D1-CFBE7805D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1E4F1-9C8D-4B20-B31C-E521E37F61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993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lockchain">
            <a:extLst>
              <a:ext uri="{FF2B5EF4-FFF2-40B4-BE49-F238E27FC236}">
                <a16:creationId xmlns:a16="http://schemas.microsoft.com/office/drawing/2014/main" id="{5B126D48-19EA-EA78-4F63-6B9C3E64D6D9}"/>
              </a:ext>
            </a:extLst>
          </p:cNvPr>
          <p:cNvSpPr/>
          <p:nvPr/>
        </p:nvSpPr>
        <p:spPr>
          <a:xfrm>
            <a:off x="508000" y="4241800"/>
            <a:ext cx="11176000" cy="2438400"/>
          </a:xfrm>
          <a:prstGeom prst="roundRect">
            <a:avLst>
              <a:gd name="adj" fmla="val 6000"/>
            </a:avLst>
          </a:prstGeom>
          <a:solidFill>
            <a:srgbClr val="F5F2FD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7" name="Branch stack 2">
            <a:extLst>
              <a:ext uri="{FF2B5EF4-FFF2-40B4-BE49-F238E27FC236}">
                <a16:creationId xmlns:a16="http://schemas.microsoft.com/office/drawing/2014/main" id="{B9A5B999-A70F-5E6F-111D-CC011F6537D2}"/>
              </a:ext>
            </a:extLst>
          </p:cNvPr>
          <p:cNvSpPr/>
          <p:nvPr/>
        </p:nvSpPr>
        <p:spPr>
          <a:xfrm>
            <a:off x="2057400" y="5359400"/>
            <a:ext cx="3810000" cy="990600"/>
          </a:xfrm>
          <a:prstGeom prst="roundRect">
            <a:avLst>
              <a:gd name="adj" fmla="val 12000"/>
            </a:avLst>
          </a:prstGeom>
          <a:solidFill>
            <a:srgbClr val="D2C5F4">
              <a:alpha val="40000"/>
            </a:srgbClr>
          </a:solidFill>
          <a:ln w="15875" cap="flat" cmpd="sng" algn="ctr">
            <a:solidFill>
              <a:srgbClr val="6D28D9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" name="Branch stack 1">
            <a:extLst>
              <a:ext uri="{FF2B5EF4-FFF2-40B4-BE49-F238E27FC236}">
                <a16:creationId xmlns:a16="http://schemas.microsoft.com/office/drawing/2014/main" id="{FE257874-1467-BC62-F569-BD6AFF9D1BCF}"/>
              </a:ext>
            </a:extLst>
          </p:cNvPr>
          <p:cNvSpPr/>
          <p:nvPr/>
        </p:nvSpPr>
        <p:spPr>
          <a:xfrm>
            <a:off x="1981200" y="5308600"/>
            <a:ext cx="3810000" cy="990600"/>
          </a:xfrm>
          <a:prstGeom prst="roundRect">
            <a:avLst>
              <a:gd name="adj" fmla="val 12000"/>
            </a:avLst>
          </a:prstGeom>
          <a:solidFill>
            <a:srgbClr val="D2C5F4">
              <a:alpha val="70000"/>
            </a:srgbClr>
          </a:solidFill>
          <a:ln w="15875" cap="flat" cmpd="sng" algn="ctr">
            <a:solidFill>
              <a:srgbClr val="6D28D9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Network">
            <a:extLst>
              <a:ext uri="{FF2B5EF4-FFF2-40B4-BE49-F238E27FC236}">
                <a16:creationId xmlns:a16="http://schemas.microsoft.com/office/drawing/2014/main" id="{28B2C70C-1B91-D88A-2C7B-5745A138FE91}"/>
              </a:ext>
            </a:extLst>
          </p:cNvPr>
          <p:cNvSpPr/>
          <p:nvPr/>
        </p:nvSpPr>
        <p:spPr>
          <a:xfrm>
            <a:off x="508000" y="2590800"/>
            <a:ext cx="11176000" cy="1498600"/>
          </a:xfrm>
          <a:prstGeom prst="roundRect">
            <a:avLst>
              <a:gd name="adj" fmla="val 5000"/>
            </a:avLst>
          </a:prstGeom>
          <a:solidFill>
            <a:srgbClr val="EEF8F6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Peer stack 2">
            <a:extLst>
              <a:ext uri="{FF2B5EF4-FFF2-40B4-BE49-F238E27FC236}">
                <a16:creationId xmlns:a16="http://schemas.microsoft.com/office/drawing/2014/main" id="{01EB943A-1E7F-A441-3151-3CB649D3B47C}"/>
              </a:ext>
            </a:extLst>
          </p:cNvPr>
          <p:cNvSpPr/>
          <p:nvPr/>
        </p:nvSpPr>
        <p:spPr>
          <a:xfrm>
            <a:off x="914400" y="2819400"/>
            <a:ext cx="7747000" cy="1143000"/>
          </a:xfrm>
          <a:prstGeom prst="roundRect">
            <a:avLst>
              <a:gd name="adj" fmla="val 9000"/>
            </a:avLst>
          </a:prstGeom>
          <a:solidFill>
            <a:srgbClr val="BFE3DB">
              <a:alpha val="40000"/>
            </a:srgbClr>
          </a:solidFill>
          <a:ln w="15875" cap="flat" cmpd="sng" algn="ctr">
            <a:solidFill>
              <a:srgbClr val="0F766E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Peer stack 1">
            <a:extLst>
              <a:ext uri="{FF2B5EF4-FFF2-40B4-BE49-F238E27FC236}">
                <a16:creationId xmlns:a16="http://schemas.microsoft.com/office/drawing/2014/main" id="{E3053DE0-F07F-BB68-7B79-9E0384D6A4E4}"/>
              </a:ext>
            </a:extLst>
          </p:cNvPr>
          <p:cNvSpPr/>
          <p:nvPr/>
        </p:nvSpPr>
        <p:spPr>
          <a:xfrm>
            <a:off x="838200" y="2768600"/>
            <a:ext cx="7747000" cy="1143000"/>
          </a:xfrm>
          <a:prstGeom prst="roundRect">
            <a:avLst>
              <a:gd name="adj" fmla="val 9000"/>
            </a:avLst>
          </a:prstGeom>
          <a:solidFill>
            <a:srgbClr val="BFE3DB">
              <a:alpha val="70000"/>
            </a:srgbClr>
          </a:solidFill>
          <a:ln w="15875" cap="flat" cmpd="sng" algn="ctr">
            <a:solidFill>
              <a:srgbClr val="0F766E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Peer">
            <a:extLst>
              <a:ext uri="{FF2B5EF4-FFF2-40B4-BE49-F238E27FC236}">
                <a16:creationId xmlns:a16="http://schemas.microsoft.com/office/drawing/2014/main" id="{B2EB0330-E0EF-BF1D-C03E-1C1B50CA49C7}"/>
              </a:ext>
            </a:extLst>
          </p:cNvPr>
          <p:cNvSpPr/>
          <p:nvPr/>
        </p:nvSpPr>
        <p:spPr>
          <a:xfrm>
            <a:off x="762000" y="2717800"/>
            <a:ext cx="7747000" cy="1143000"/>
          </a:xfrm>
          <a:prstGeom prst="roundRect">
            <a:avLst>
              <a:gd name="adj" fmla="val 9000"/>
            </a:avLst>
          </a:prstGeom>
          <a:solidFill>
            <a:srgbClr val="BFE3DB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346B7C-FA7F-F532-C7D4-F1A488AD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79400"/>
            <a:ext cx="11176000" cy="584200"/>
          </a:xfrm>
        </p:spPr>
        <p:txBody>
          <a:bodyPr lIns="0" anchor="ctr">
            <a:normAutofit/>
          </a:bodyPr>
          <a:lstStyle/>
          <a:p>
            <a:pPr algn="r"/>
            <a:r>
              <a:rPr lang="en-US" sz="2600">
                <a:solidFill>
                  <a:srgbClr val="1E293B"/>
                </a:solidFill>
                <a:latin typeface="Segoe UI Semibold" panose="020B0702040204020203" pitchFamily="34" charset="0"/>
              </a:rPr>
              <a:t>Overview State Synchronization</a:t>
            </a:r>
            <a:endParaRPr lang="en-US" sz="2600" dirty="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remote peer">
            <a:extLst>
              <a:ext uri="{FF2B5EF4-FFF2-40B4-BE49-F238E27FC236}">
                <a16:creationId xmlns:a16="http://schemas.microsoft.com/office/drawing/2014/main" id="{F261ACFB-DF3F-E51B-C060-650AD9511357}"/>
              </a:ext>
            </a:extLst>
          </p:cNvPr>
          <p:cNvSpPr/>
          <p:nvPr/>
        </p:nvSpPr>
        <p:spPr>
          <a:xfrm>
            <a:off x="762000" y="1473200"/>
            <a:ext cx="7747000" cy="330200"/>
          </a:xfrm>
          <a:prstGeom prst="roundRect">
            <a:avLst>
              <a:gd name="adj" fmla="val 30000"/>
            </a:avLst>
          </a:prstGeom>
          <a:solidFill>
            <a:srgbClr val="FDF0DC"/>
          </a:solidFill>
          <a:ln w="15875">
            <a:solidFill>
              <a:srgbClr val="C270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A4306"/>
                </a:solidFill>
                <a:latin typeface="Segoe UI Semibold" panose="020B0702040204020203" pitchFamily="34" charset="0"/>
              </a:rPr>
              <a:t>remote peer</a:t>
            </a:r>
            <a:endParaRPr lang="en-US" sz="1200" dirty="0">
              <a:solidFill>
                <a:srgbClr val="7A4306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199D83C-A036-37C8-9B4E-488D10A6CB64}"/>
              </a:ext>
            </a:extLst>
          </p:cNvPr>
          <p:cNvSpPr/>
          <p:nvPr/>
        </p:nvSpPr>
        <p:spPr>
          <a:xfrm>
            <a:off x="3686175" y="1041400"/>
            <a:ext cx="304800" cy="304800"/>
          </a:xfrm>
          <a:prstGeom prst="ellipse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2A37838-462E-2C52-D776-8BAA6268AF73}"/>
              </a:ext>
            </a:extLst>
          </p:cNvPr>
          <p:cNvSpPr txBox="1"/>
          <p:nvPr/>
        </p:nvSpPr>
        <p:spPr>
          <a:xfrm>
            <a:off x="4092575" y="10541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1E293B"/>
                </a:solidFill>
                <a:latin typeface="Segoe UI Semibold" panose="020B0702040204020203" pitchFamily="34" charset="0"/>
              </a:rPr>
              <a:t>Header sync</a:t>
            </a:r>
            <a:endParaRPr lang="en-US" sz="1500" dirty="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53ED03F-C909-A1EC-E770-C27CB40B04FA}"/>
              </a:ext>
            </a:extLst>
          </p:cNvPr>
          <p:cNvSpPr/>
          <p:nvPr/>
        </p:nvSpPr>
        <p:spPr>
          <a:xfrm>
            <a:off x="6241701" y="1041400"/>
            <a:ext cx="304800" cy="304800"/>
          </a:xfrm>
          <a:prstGeom prst="ellipse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CC4989A-9F4F-6570-5965-C7D6CFE8B556}"/>
              </a:ext>
            </a:extLst>
          </p:cNvPr>
          <p:cNvSpPr txBox="1"/>
          <p:nvPr/>
        </p:nvSpPr>
        <p:spPr>
          <a:xfrm>
            <a:off x="6648101" y="10541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1E293B"/>
                </a:solidFill>
                <a:latin typeface="Segoe UI Semibold" panose="020B0702040204020203" pitchFamily="34" charset="0"/>
              </a:rPr>
              <a:t>Block sync</a:t>
            </a:r>
            <a:endParaRPr lang="en-US" sz="1500" dirty="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HeadersMessage.Run">
            <a:extLst>
              <a:ext uri="{FF2B5EF4-FFF2-40B4-BE49-F238E27FC236}">
                <a16:creationId xmlns:a16="http://schemas.microsoft.com/office/drawing/2014/main" id="{C4D6C05F-C356-88C6-57A7-B06333E320B6}"/>
              </a:ext>
            </a:extLst>
          </p:cNvPr>
          <p:cNvSpPr/>
          <p:nvPr/>
        </p:nvSpPr>
        <p:spPr>
          <a:xfrm>
            <a:off x="3302000" y="3175000"/>
            <a:ext cx="2286000" cy="584200"/>
          </a:xfrm>
          <a:prstGeom prst="roundRect">
            <a:avLst>
              <a:gd name="adj" fmla="val 14000"/>
            </a:avLst>
          </a:prstGeom>
          <a:solidFill>
            <a:srgbClr val="8FCCBF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100">
                <a:solidFill>
                  <a:srgbClr val="134E4A"/>
                </a:solidFill>
                <a:latin typeface="Segoe UI Semibold" panose="020B0702040204020203" pitchFamily="34" charset="0"/>
              </a:rPr>
              <a:t>HeadersMessage</a:t>
            </a:r>
          </a:p>
          <a:p>
            <a:pPr algn="ctr"/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Inserts received headers, requests more.</a:t>
            </a:r>
            <a:endParaRPr lang="en-US" sz="900" i="1" dirty="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585CB0C3-2AC3-F031-FADD-9E15A006A961}"/>
              </a:ext>
            </a:extLst>
          </p:cNvPr>
          <p:cNvCxnSpPr/>
          <p:nvPr/>
        </p:nvCxnSpPr>
        <p:spPr>
          <a:xfrm flipV="1">
            <a:off x="4889500" y="1803400"/>
            <a:ext cx="0" cy="1371600"/>
          </a:xfrm>
          <a:prstGeom prst="line">
            <a:avLst/>
          </a:prstGeom>
          <a:ln w="22225">
            <a:solidFill>
              <a:srgbClr val="C270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8C7E0B11-FE74-E337-F13D-CADFAFBF3C59}"/>
              </a:ext>
            </a:extLst>
          </p:cNvPr>
          <p:cNvCxnSpPr/>
          <p:nvPr/>
        </p:nvCxnSpPr>
        <p:spPr>
          <a:xfrm>
            <a:off x="4000500" y="1803400"/>
            <a:ext cx="0" cy="1371600"/>
          </a:xfrm>
          <a:prstGeom prst="line">
            <a:avLst/>
          </a:prstGeom>
          <a:ln w="22225">
            <a:solidFill>
              <a:srgbClr val="C270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BlockMessage.Run">
            <a:extLst>
              <a:ext uri="{FF2B5EF4-FFF2-40B4-BE49-F238E27FC236}">
                <a16:creationId xmlns:a16="http://schemas.microsoft.com/office/drawing/2014/main" id="{62E6A9B6-D8CB-A1BF-A832-78409CED2C04}"/>
              </a:ext>
            </a:extLst>
          </p:cNvPr>
          <p:cNvSpPr/>
          <p:nvPr/>
        </p:nvSpPr>
        <p:spPr>
          <a:xfrm>
            <a:off x="5969000" y="3175000"/>
            <a:ext cx="2286000" cy="584200"/>
          </a:xfrm>
          <a:prstGeom prst="roundRect">
            <a:avLst>
              <a:gd name="adj" fmla="val 14000"/>
            </a:avLst>
          </a:prstGeom>
          <a:solidFill>
            <a:srgbClr val="8FCCBF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100">
                <a:solidFill>
                  <a:srgbClr val="134E4A"/>
                </a:solidFill>
                <a:latin typeface="Segoe UI Semibold" panose="020B0702040204020203" pitchFamily="34" charset="0"/>
              </a:rPr>
              <a:t>BlockMessage</a:t>
            </a:r>
          </a:p>
          <a:p>
            <a:pPr algn="ctr"/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Inserts received block, requests next.</a:t>
            </a:r>
            <a:endParaRPr lang="en-US" sz="900" i="1" dirty="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A3E49B9-2979-CC93-EB86-EE7C861AB566}"/>
              </a:ext>
            </a:extLst>
          </p:cNvPr>
          <p:cNvCxnSpPr/>
          <p:nvPr/>
        </p:nvCxnSpPr>
        <p:spPr>
          <a:xfrm flipV="1">
            <a:off x="6667500" y="1803400"/>
            <a:ext cx="0" cy="1371600"/>
          </a:xfrm>
          <a:prstGeom prst="line">
            <a:avLst/>
          </a:prstGeom>
          <a:ln w="22225">
            <a:solidFill>
              <a:srgbClr val="C270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A9D5BC9-390D-CE97-CE01-38ED74659D71}"/>
              </a:ext>
            </a:extLst>
          </p:cNvPr>
          <p:cNvCxnSpPr/>
          <p:nvPr/>
        </p:nvCxnSpPr>
        <p:spPr>
          <a:xfrm>
            <a:off x="7556500" y="1803400"/>
            <a:ext cx="0" cy="1371600"/>
          </a:xfrm>
          <a:prstGeom prst="line">
            <a:avLst/>
          </a:prstGeom>
          <a:ln w="22225">
            <a:solidFill>
              <a:srgbClr val="C270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Network.StartBlockDownloadDispatcher">
            <a:extLst>
              <a:ext uri="{FF2B5EF4-FFF2-40B4-BE49-F238E27FC236}">
                <a16:creationId xmlns:a16="http://schemas.microsoft.com/office/drawing/2014/main" id="{18467037-D91B-27F5-BAED-214B82560EBB}"/>
              </a:ext>
            </a:extLst>
          </p:cNvPr>
          <p:cNvSpPr/>
          <p:nvPr/>
        </p:nvSpPr>
        <p:spPr>
          <a:xfrm>
            <a:off x="8890000" y="3238500"/>
            <a:ext cx="25400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 cap="flat" cmpd="sng" algn="ctr">
            <a:solidFill>
              <a:srgbClr val="0F766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lang="en-US" sz="1100" b="1">
                <a:solidFill>
                  <a:srgbClr val="134E4A"/>
                </a:solidFill>
                <a:latin typeface="Consolas" panose="020B0609020204030204" pitchFamily="49" charset="0"/>
              </a:rPr>
              <a:t>StartBlockDownloadDispatcher</a:t>
            </a:r>
            <a:endParaRPr lang="en-US" sz="850">
              <a:solidFill>
                <a:srgbClr val="64748B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850">
                <a:solidFill>
                  <a:srgbClr val="64748B"/>
                </a:solidFill>
                <a:latin typeface="Consolas" panose="020B0609020204030204" pitchFamily="49" charset="0"/>
              </a:rPr>
              <a:t>assign block downloads peers</a:t>
            </a:r>
            <a:endParaRPr lang="en-US" sz="850" dirty="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label Blockchain">
            <a:extLst>
              <a:ext uri="{FF2B5EF4-FFF2-40B4-BE49-F238E27FC236}">
                <a16:creationId xmlns:a16="http://schemas.microsoft.com/office/drawing/2014/main" id="{008464C5-294D-3A2A-0E71-311199AC6980}"/>
              </a:ext>
            </a:extLst>
          </p:cNvPr>
          <p:cNvSpPr txBox="1"/>
          <p:nvPr/>
        </p:nvSpPr>
        <p:spPr>
          <a:xfrm>
            <a:off x="7924266" y="4279900"/>
            <a:ext cx="1423467" cy="3077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100">
                <a:solidFill>
                  <a:srgbClr val="3B1E7A"/>
                </a:solidFill>
                <a:latin typeface="Segoe UI Semibold" panose="020B0702040204020203" pitchFamily="34" charset="0"/>
              </a:rPr>
              <a:t>Blockchain</a:t>
            </a:r>
          </a:p>
          <a:p>
            <a:pPr algn="ctr"/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guarded access to the chain</a:t>
            </a:r>
            <a:endParaRPr lang="en-US" sz="900" i="1" dirty="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46" name="Blockchain.TryExtendHeaderchain">
            <a:extLst>
              <a:ext uri="{FF2B5EF4-FFF2-40B4-BE49-F238E27FC236}">
                <a16:creationId xmlns:a16="http://schemas.microsoft.com/office/drawing/2014/main" id="{F58B07B6-4DA8-B3D5-8BCE-C60815B1D8CE}"/>
              </a:ext>
            </a:extLst>
          </p:cNvPr>
          <p:cNvSpPr/>
          <p:nvPr/>
        </p:nvSpPr>
        <p:spPr>
          <a:xfrm>
            <a:off x="3302000" y="4673600"/>
            <a:ext cx="22860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 cap="flat" cmpd="sng" algn="ctr">
            <a:solidFill>
              <a:srgbClr val="6D28D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lang="en-US" sz="1100" b="1">
                <a:solidFill>
                  <a:srgbClr val="3B1E7A"/>
                </a:solidFill>
                <a:latin typeface="Consolas" panose="020B0609020204030204" pitchFamily="49" charset="0"/>
              </a:rPr>
              <a:t>TryExtendHeaderchain</a:t>
            </a:r>
            <a:endParaRPr lang="en-US" sz="850">
              <a:solidFill>
                <a:srgbClr val="64748B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850">
                <a:solidFill>
                  <a:srgbClr val="64748B"/>
                </a:solidFill>
                <a:latin typeface="Consolas" panose="020B0609020204030204" pitchFamily="49" charset="0"/>
              </a:rPr>
              <a:t>lock</a:t>
            </a:r>
            <a:endParaRPr lang="en-US" sz="850" dirty="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Blockchain.GetHeaderDownload">
            <a:extLst>
              <a:ext uri="{FF2B5EF4-FFF2-40B4-BE49-F238E27FC236}">
                <a16:creationId xmlns:a16="http://schemas.microsoft.com/office/drawing/2014/main" id="{14B938D7-7B15-588E-CB46-4437F4EA3919}"/>
              </a:ext>
            </a:extLst>
          </p:cNvPr>
          <p:cNvSpPr/>
          <p:nvPr/>
        </p:nvSpPr>
        <p:spPr>
          <a:xfrm>
            <a:off x="9080500" y="4673600"/>
            <a:ext cx="21590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 cap="flat" cmpd="sng" algn="ctr">
            <a:solidFill>
              <a:srgbClr val="6D28D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lang="en-US" sz="1100" b="1">
                <a:solidFill>
                  <a:srgbClr val="3B1E7A"/>
                </a:solidFill>
                <a:latin typeface="Consolas" panose="020B0609020204030204" pitchFamily="49" charset="0"/>
              </a:rPr>
              <a:t>GetHeaderDownload</a:t>
            </a:r>
            <a:endParaRPr lang="en-US" sz="850">
              <a:solidFill>
                <a:srgbClr val="64748B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850">
                <a:solidFill>
                  <a:srgbClr val="64748B"/>
                </a:solidFill>
                <a:latin typeface="Consolas" panose="020B0609020204030204" pitchFamily="49" charset="0"/>
              </a:rPr>
              <a:t>pick next block</a:t>
            </a:r>
            <a:endParaRPr lang="en-US" sz="850" dirty="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Blockchain.InsertBlockReturnNextBlock">
            <a:extLst>
              <a:ext uri="{FF2B5EF4-FFF2-40B4-BE49-F238E27FC236}">
                <a16:creationId xmlns:a16="http://schemas.microsoft.com/office/drawing/2014/main" id="{C5D7D2A4-85AF-6B33-102B-3F54A0A502D2}"/>
              </a:ext>
            </a:extLst>
          </p:cNvPr>
          <p:cNvSpPr/>
          <p:nvPr/>
        </p:nvSpPr>
        <p:spPr>
          <a:xfrm>
            <a:off x="5969000" y="4673600"/>
            <a:ext cx="2286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6D28D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50800" rIns="38100" bIns="0" rtlCol="0" anchor="t"/>
          <a:lstStyle/>
          <a:p>
            <a:pPr algn="ctr"/>
            <a:r>
              <a:rPr lang="en-US" sz="1100" b="1">
                <a:solidFill>
                  <a:srgbClr val="3B1E7A"/>
                </a:solidFill>
                <a:latin typeface="Consolas" panose="020B0609020204030204" pitchFamily="49" charset="0"/>
              </a:rPr>
              <a:t>InsertBlockReturnNextBlock</a:t>
            </a:r>
            <a:endParaRPr lang="en-US" sz="850">
              <a:solidFill>
                <a:srgbClr val="64748B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850">
                <a:solidFill>
                  <a:srgbClr val="64748B"/>
                </a:solidFill>
                <a:latin typeface="Consolas" panose="020B0609020204030204" pitchFamily="49" charset="0"/>
              </a:rPr>
              <a:t>insert block, pick next</a:t>
            </a:r>
            <a:endParaRPr lang="en-US" sz="850" dirty="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Blockchain.InsertBlock">
            <a:extLst>
              <a:ext uri="{FF2B5EF4-FFF2-40B4-BE49-F238E27FC236}">
                <a16:creationId xmlns:a16="http://schemas.microsoft.com/office/drawing/2014/main" id="{CE4300EB-5654-2A9C-BA0B-253C8A6CC4C0}"/>
              </a:ext>
            </a:extLst>
          </p:cNvPr>
          <p:cNvSpPr/>
          <p:nvPr/>
        </p:nvSpPr>
        <p:spPr>
          <a:xfrm>
            <a:off x="9398000" y="5372100"/>
            <a:ext cx="15240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 cap="flat" cmpd="sng" algn="ctr">
            <a:solidFill>
              <a:srgbClr val="6D28D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lang="en-US" sz="1100" b="1">
                <a:solidFill>
                  <a:srgbClr val="3B1E7A"/>
                </a:solidFill>
                <a:latin typeface="Consolas" panose="020B0609020204030204" pitchFamily="49" charset="0"/>
              </a:rPr>
              <a:t>InsertBlock</a:t>
            </a:r>
            <a:endParaRPr lang="en-US" sz="850">
              <a:solidFill>
                <a:srgbClr val="64748B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850">
                <a:solidFill>
                  <a:srgbClr val="64748B"/>
                </a:solidFill>
                <a:latin typeface="Consolas" panose="020B0609020204030204" pitchFamily="49" charset="0"/>
              </a:rPr>
              <a:t>apply and store</a:t>
            </a:r>
            <a:endParaRPr lang="en-US" sz="850" dirty="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Branch">
            <a:extLst>
              <a:ext uri="{FF2B5EF4-FFF2-40B4-BE49-F238E27FC236}">
                <a16:creationId xmlns:a16="http://schemas.microsoft.com/office/drawing/2014/main" id="{8A185DF5-E793-4F03-62B5-C7B624B90074}"/>
              </a:ext>
            </a:extLst>
          </p:cNvPr>
          <p:cNvSpPr/>
          <p:nvPr/>
        </p:nvSpPr>
        <p:spPr>
          <a:xfrm>
            <a:off x="1905000" y="5257800"/>
            <a:ext cx="3810000" cy="990600"/>
          </a:xfrm>
          <a:prstGeom prst="roundRect">
            <a:avLst>
              <a:gd name="adj" fmla="val 12000"/>
            </a:avLst>
          </a:prstGeom>
          <a:solidFill>
            <a:srgbClr val="D2C5F4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label Branch">
            <a:extLst>
              <a:ext uri="{FF2B5EF4-FFF2-40B4-BE49-F238E27FC236}">
                <a16:creationId xmlns:a16="http://schemas.microsoft.com/office/drawing/2014/main" id="{30AC199F-2A83-1FE7-CB14-E4BB1C978436}"/>
              </a:ext>
            </a:extLst>
          </p:cNvPr>
          <p:cNvSpPr txBox="1"/>
          <p:nvPr/>
        </p:nvSpPr>
        <p:spPr>
          <a:xfrm>
            <a:off x="2088966" y="5295900"/>
            <a:ext cx="2172069" cy="2923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3B1E7A"/>
                </a:solidFill>
                <a:latin typeface="Segoe UI Semibold" panose="020B0702040204020203" pitchFamily="34" charset="0"/>
              </a:rPr>
              <a:t>Branch</a:t>
            </a:r>
            <a:endParaRPr lang="en-US" sz="1000" dirty="0">
              <a:solidFill>
                <a:srgbClr val="3B1E7A"/>
              </a:solidFill>
              <a:latin typeface="Segoe UI Semibold" panose="020B0702040204020203" pitchFamily="34" charset="0"/>
            </a:endParaRPr>
          </a:p>
          <a:p>
            <a:pPr algn="ctr"/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header tree segment, top one = BranchRoot</a:t>
            </a:r>
            <a:endParaRPr lang="en-US" sz="900" i="1" dirty="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2" name="Branch.TryExtendHeaderchain">
            <a:extLst>
              <a:ext uri="{FF2B5EF4-FFF2-40B4-BE49-F238E27FC236}">
                <a16:creationId xmlns:a16="http://schemas.microsoft.com/office/drawing/2014/main" id="{2AEA1E30-272F-8D1B-8993-7869AFDAA9CA}"/>
              </a:ext>
            </a:extLst>
          </p:cNvPr>
          <p:cNvSpPr/>
          <p:nvPr/>
        </p:nvSpPr>
        <p:spPr>
          <a:xfrm>
            <a:off x="3302000" y="5689600"/>
            <a:ext cx="22860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 cap="flat" cmpd="sng" algn="ctr">
            <a:solidFill>
              <a:srgbClr val="6D28D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0" rIns="38100" bIns="0" rtlCol="0" anchor="ctr"/>
          <a:lstStyle/>
          <a:p>
            <a:pPr algn="ctr"/>
            <a:r>
              <a:rPr lang="en-US" sz="1100" b="1">
                <a:solidFill>
                  <a:srgbClr val="3B1E7A"/>
                </a:solidFill>
                <a:latin typeface="Consolas" panose="020B0609020204030204" pitchFamily="49" charset="0"/>
              </a:rPr>
              <a:t>TryExtendHeaderchain</a:t>
            </a:r>
            <a:endParaRPr lang="en-US" sz="850">
              <a:solidFill>
                <a:srgbClr val="64748B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850">
                <a:solidFill>
                  <a:srgbClr val="64748B"/>
                </a:solidFill>
                <a:latin typeface="Consolas" panose="020B0609020204030204" pitchFamily="49" charset="0"/>
              </a:rPr>
              <a:t>attach headers</a:t>
            </a:r>
            <a:endParaRPr lang="en-US" sz="850" dirty="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C3D98490-5214-03DE-5211-03F9591FE8EE}"/>
              </a:ext>
            </a:extLst>
          </p:cNvPr>
          <p:cNvCxnSpPr>
            <a:cxnSpLocks/>
            <a:stCxn id="10" idx="2"/>
            <a:endCxn id="46" idx="0"/>
          </p:cNvCxnSpPr>
          <p:nvPr/>
        </p:nvCxnSpPr>
        <p:spPr>
          <a:xfrm>
            <a:off x="4445000" y="3759200"/>
            <a:ext cx="0" cy="914400"/>
          </a:xfrm>
          <a:prstGeom prst="straightConnector1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E03E96F5-C079-073E-AE53-A92EE888EF47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>
            <a:off x="4445000" y="5130800"/>
            <a:ext cx="0" cy="558800"/>
          </a:xfrm>
          <a:prstGeom prst="straightConnector1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E2D57256-F9F1-4894-95FE-E6F452DD3384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>
            <a:off x="10160000" y="3695700"/>
            <a:ext cx="0" cy="977900"/>
          </a:xfrm>
          <a:prstGeom prst="straightConnector1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611DD8D7-C40C-CA0F-933A-24F5CE46AF70}"/>
              </a:ext>
            </a:extLst>
          </p:cNvPr>
          <p:cNvCxnSpPr>
            <a:cxnSpLocks/>
            <a:stCxn id="26" idx="2"/>
            <a:endCxn id="48" idx="0"/>
          </p:cNvCxnSpPr>
          <p:nvPr/>
        </p:nvCxnSpPr>
        <p:spPr>
          <a:xfrm>
            <a:off x="7112000" y="3759200"/>
            <a:ext cx="0" cy="914400"/>
          </a:xfrm>
          <a:prstGeom prst="straightConnector1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all insert in order -&gt; InsertBlock">
            <a:extLst>
              <a:ext uri="{FF2B5EF4-FFF2-40B4-BE49-F238E27FC236}">
                <a16:creationId xmlns:a16="http://schemas.microsoft.com/office/drawing/2014/main" id="{151A9785-230B-8D03-A55E-126283CCE46D}"/>
              </a:ext>
            </a:extLst>
          </p:cNvPr>
          <p:cNvCxnSpPr>
            <a:cxnSpLocks/>
            <a:stCxn id="75" idx="6"/>
            <a:endCxn id="49" idx="1"/>
          </p:cNvCxnSpPr>
          <p:nvPr/>
        </p:nvCxnSpPr>
        <p:spPr>
          <a:xfrm>
            <a:off x="8001000" y="5600700"/>
            <a:ext cx="1397000" cy="0"/>
          </a:xfrm>
          <a:prstGeom prst="straightConnector1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abel Network">
            <a:extLst>
              <a:ext uri="{FF2B5EF4-FFF2-40B4-BE49-F238E27FC236}">
                <a16:creationId xmlns:a16="http://schemas.microsoft.com/office/drawing/2014/main" id="{D4EBC86D-9B6E-775B-E64F-B407089A7717}"/>
              </a:ext>
            </a:extLst>
          </p:cNvPr>
          <p:cNvSpPr txBox="1"/>
          <p:nvPr/>
        </p:nvSpPr>
        <p:spPr>
          <a:xfrm>
            <a:off x="9029883" y="2628900"/>
            <a:ext cx="2260234" cy="3077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100">
                <a:solidFill>
                  <a:srgbClr val="134E4A"/>
                </a:solidFill>
                <a:latin typeface="Segoe UI Semibold" panose="020B0702040204020203" pitchFamily="34" charset="0"/>
              </a:rPr>
              <a:t>Network</a:t>
            </a:r>
          </a:p>
          <a:p>
            <a:pPr algn="ctr"/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manages peers, dispatches block downloads</a:t>
            </a:r>
            <a:endParaRPr lang="en-US" sz="900" i="1" dirty="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label Peer">
            <a:extLst>
              <a:ext uri="{FF2B5EF4-FFF2-40B4-BE49-F238E27FC236}">
                <a16:creationId xmlns:a16="http://schemas.microsoft.com/office/drawing/2014/main" id="{CDCDEEA6-7B77-2640-B79D-C81490F0878D}"/>
              </a:ext>
            </a:extLst>
          </p:cNvPr>
          <p:cNvSpPr txBox="1"/>
          <p:nvPr/>
        </p:nvSpPr>
        <p:spPr>
          <a:xfrm>
            <a:off x="5018676" y="2755900"/>
            <a:ext cx="1519647" cy="2923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1000" dirty="0">
                <a:solidFill>
                  <a:srgbClr val="134E4A"/>
                </a:solidFill>
                <a:latin typeface="Segoe UI Semibold" panose="020B0702040204020203" pitchFamily="34" charset="0"/>
              </a:rPr>
              <a:t>Peer</a:t>
            </a:r>
          </a:p>
          <a:p>
            <a:pPr algn="ctr"/>
            <a:r>
              <a:rPr lang="en-US" sz="900" i="1" dirty="0">
                <a:solidFill>
                  <a:srgbClr val="64748B"/>
                </a:solidFill>
                <a:latin typeface="Segoe UI" panose="020B0502040204020203" pitchFamily="34" charset="0"/>
              </a:rPr>
              <a:t>connection to one remote peer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530BA213-C2A8-79AB-10DA-2A1A217ED1E1}"/>
              </a:ext>
            </a:extLst>
          </p:cNvPr>
          <p:cNvSpPr/>
          <p:nvPr/>
        </p:nvSpPr>
        <p:spPr>
          <a:xfrm>
            <a:off x="4445000" y="2044700"/>
            <a:ext cx="889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70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lang="en-US" sz="950" b="1">
                <a:solidFill>
                  <a:srgbClr val="7A4306"/>
                </a:solidFill>
                <a:latin typeface="Consolas" panose="020B0609020204030204" pitchFamily="49" charset="0"/>
              </a:rPr>
              <a:t>getheaders</a:t>
            </a:r>
            <a:endParaRPr lang="en-US" sz="950" b="1" dirty="0">
              <a:solidFill>
                <a:srgbClr val="7A4306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9D28A476-447F-E467-3D71-E9E460008A07}"/>
              </a:ext>
            </a:extLst>
          </p:cNvPr>
          <p:cNvSpPr/>
          <p:nvPr/>
        </p:nvSpPr>
        <p:spPr>
          <a:xfrm>
            <a:off x="3662680" y="2044700"/>
            <a:ext cx="67564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70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lang="en-US" sz="950" b="1">
                <a:solidFill>
                  <a:srgbClr val="7A4306"/>
                </a:solidFill>
                <a:latin typeface="Consolas" panose="020B0609020204030204" pitchFamily="49" charset="0"/>
              </a:rPr>
              <a:t>headers</a:t>
            </a:r>
            <a:endParaRPr lang="en-US" sz="950" b="1" dirty="0">
              <a:solidFill>
                <a:srgbClr val="7A4306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EA7C5817-9382-4BE1-180A-8178DF39DD61}"/>
              </a:ext>
            </a:extLst>
          </p:cNvPr>
          <p:cNvSpPr/>
          <p:nvPr/>
        </p:nvSpPr>
        <p:spPr>
          <a:xfrm>
            <a:off x="6329680" y="2044700"/>
            <a:ext cx="67564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70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lang="en-US" sz="950" b="1">
                <a:solidFill>
                  <a:srgbClr val="7A4306"/>
                </a:solidFill>
                <a:latin typeface="Consolas" panose="020B0609020204030204" pitchFamily="49" charset="0"/>
              </a:rPr>
              <a:t>getdata</a:t>
            </a:r>
            <a:endParaRPr lang="en-US" sz="950" b="1" dirty="0">
              <a:solidFill>
                <a:srgbClr val="7A4306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7016D15B-3BB4-263B-C66D-C77F0BD8DE9D}"/>
              </a:ext>
            </a:extLst>
          </p:cNvPr>
          <p:cNvSpPr/>
          <p:nvPr/>
        </p:nvSpPr>
        <p:spPr>
          <a:xfrm>
            <a:off x="7289800" y="2044700"/>
            <a:ext cx="5334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70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lang="en-US" sz="950" b="1">
                <a:solidFill>
                  <a:srgbClr val="7A4306"/>
                </a:solidFill>
                <a:latin typeface="Consolas" panose="020B0609020204030204" pitchFamily="49" charset="0"/>
              </a:rPr>
              <a:t>block</a:t>
            </a:r>
            <a:endParaRPr lang="en-US" sz="950" b="1" dirty="0">
              <a:solidFill>
                <a:srgbClr val="7A4306"/>
              </a:solidFill>
              <a:latin typeface="Consolas" panose="020B0609020204030204" pitchFamily="49" charset="0"/>
            </a:endParaRPr>
          </a:p>
        </p:txBody>
      </p:sp>
      <p:cxnSp>
        <p:nvCxnSpPr>
          <p:cNvPr id="28" name="call StartBlockDownloadDispatcher -&gt; BlockMessage">
            <a:extLst>
              <a:ext uri="{FF2B5EF4-FFF2-40B4-BE49-F238E27FC236}">
                <a16:creationId xmlns:a16="http://schemas.microsoft.com/office/drawing/2014/main" id="{49B8C8A8-F716-B148-B87D-EA5EB0CAEAF3}"/>
              </a:ext>
            </a:extLst>
          </p:cNvPr>
          <p:cNvCxnSpPr>
            <a:cxnSpLocks/>
            <a:stCxn id="43" idx="1"/>
            <a:endCxn id="26" idx="3"/>
          </p:cNvCxnSpPr>
          <p:nvPr/>
        </p:nvCxnSpPr>
        <p:spPr>
          <a:xfrm flipH="1">
            <a:off x="8255000" y="3467100"/>
            <a:ext cx="635000" cy="0"/>
          </a:xfrm>
          <a:prstGeom prst="straightConnector1">
            <a:avLst/>
          </a:prstGeom>
          <a:ln w="1587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VerAckMessage">
            <a:extLst>
              <a:ext uri="{FF2B5EF4-FFF2-40B4-BE49-F238E27FC236}">
                <a16:creationId xmlns:a16="http://schemas.microsoft.com/office/drawing/2014/main" id="{5CFCB765-6846-92AE-5D36-2EC2368D82A9}"/>
              </a:ext>
            </a:extLst>
          </p:cNvPr>
          <p:cNvSpPr/>
          <p:nvPr/>
        </p:nvSpPr>
        <p:spPr>
          <a:xfrm>
            <a:off x="1016000" y="3175000"/>
            <a:ext cx="1905000" cy="584200"/>
          </a:xfrm>
          <a:prstGeom prst="roundRect">
            <a:avLst>
              <a:gd name="adj" fmla="val 14000"/>
            </a:avLst>
          </a:prstGeom>
          <a:solidFill>
            <a:srgbClr val="8FCCBF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n-US" sz="1100">
                <a:solidFill>
                  <a:srgbClr val="134E4A"/>
                </a:solidFill>
                <a:latin typeface="Segoe UI Semibold" panose="020B0702040204020203" pitchFamily="34" charset="0"/>
              </a:rPr>
              <a:t>VerAckMessage</a:t>
            </a:r>
          </a:p>
          <a:p>
            <a:pPr algn="ctr"/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Handshake done, starts sync.</a:t>
            </a:r>
            <a:endParaRPr lang="en-US" sz="900" i="1" dirty="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cxnSp>
        <p:nvCxnSpPr>
          <p:cNvPr id="30" name="wire verack">
            <a:extLst>
              <a:ext uri="{FF2B5EF4-FFF2-40B4-BE49-F238E27FC236}">
                <a16:creationId xmlns:a16="http://schemas.microsoft.com/office/drawing/2014/main" id="{86D5CE5F-AC3F-B58D-8460-AF02BF9CF94C}"/>
              </a:ext>
            </a:extLst>
          </p:cNvPr>
          <p:cNvCxnSpPr/>
          <p:nvPr/>
        </p:nvCxnSpPr>
        <p:spPr>
          <a:xfrm>
            <a:off x="1524000" y="1803400"/>
            <a:ext cx="0" cy="1371600"/>
          </a:xfrm>
          <a:prstGeom prst="line">
            <a:avLst/>
          </a:prstGeom>
          <a:ln w="22225">
            <a:solidFill>
              <a:srgbClr val="C270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ll verack">
            <a:extLst>
              <a:ext uri="{FF2B5EF4-FFF2-40B4-BE49-F238E27FC236}">
                <a16:creationId xmlns:a16="http://schemas.microsoft.com/office/drawing/2014/main" id="{2B6A6F4D-2856-62DF-BE91-ECAD1861F476}"/>
              </a:ext>
            </a:extLst>
          </p:cNvPr>
          <p:cNvSpPr/>
          <p:nvPr/>
        </p:nvSpPr>
        <p:spPr>
          <a:xfrm>
            <a:off x="1221740" y="2044700"/>
            <a:ext cx="60452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70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lang="en-US" sz="950" b="1">
                <a:solidFill>
                  <a:srgbClr val="7A4306"/>
                </a:solidFill>
                <a:latin typeface="Consolas" panose="020B0609020204030204" pitchFamily="49" charset="0"/>
              </a:rPr>
              <a:t>verack</a:t>
            </a:r>
            <a:endParaRPr lang="en-US" sz="950" b="1" dirty="0">
              <a:solidFill>
                <a:srgbClr val="7A4306"/>
              </a:solidFill>
              <a:latin typeface="Consolas" panose="020B0609020204030204" pitchFamily="49" charset="0"/>
            </a:endParaRPr>
          </a:p>
        </p:txBody>
      </p:sp>
      <p:cxnSp>
        <p:nvCxnSpPr>
          <p:cNvPr id="62" name="wire getheaders VerAck">
            <a:extLst>
              <a:ext uri="{FF2B5EF4-FFF2-40B4-BE49-F238E27FC236}">
                <a16:creationId xmlns:a16="http://schemas.microsoft.com/office/drawing/2014/main" id="{CFA48C39-D077-02D2-B7F3-926437A52168}"/>
              </a:ext>
            </a:extLst>
          </p:cNvPr>
          <p:cNvCxnSpPr/>
          <p:nvPr/>
        </p:nvCxnSpPr>
        <p:spPr>
          <a:xfrm flipV="1">
            <a:off x="2413000" y="1803400"/>
            <a:ext cx="0" cy="1371600"/>
          </a:xfrm>
          <a:prstGeom prst="line">
            <a:avLst/>
          </a:prstGeom>
          <a:ln w="22225">
            <a:solidFill>
              <a:srgbClr val="C270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pill getheaders VerAck">
            <a:extLst>
              <a:ext uri="{FF2B5EF4-FFF2-40B4-BE49-F238E27FC236}">
                <a16:creationId xmlns:a16="http://schemas.microsoft.com/office/drawing/2014/main" id="{E6DE07D1-970E-4FD3-3CE4-C923D41D2E39}"/>
              </a:ext>
            </a:extLst>
          </p:cNvPr>
          <p:cNvSpPr/>
          <p:nvPr/>
        </p:nvSpPr>
        <p:spPr>
          <a:xfrm>
            <a:off x="1968500" y="2044700"/>
            <a:ext cx="889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70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lang="en-US" sz="950" b="1">
                <a:solidFill>
                  <a:srgbClr val="7A4306"/>
                </a:solidFill>
                <a:latin typeface="Consolas" panose="020B0609020204030204" pitchFamily="49" charset="0"/>
              </a:rPr>
              <a:t>getheaders</a:t>
            </a:r>
            <a:endParaRPr lang="en-US" sz="950" b="1" dirty="0">
              <a:solidFill>
                <a:srgbClr val="7A4306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heading Handshake number">
            <a:extLst>
              <a:ext uri="{FF2B5EF4-FFF2-40B4-BE49-F238E27FC236}">
                <a16:creationId xmlns:a16="http://schemas.microsoft.com/office/drawing/2014/main" id="{78F7328F-0BC1-58FB-B9A1-EB8191B6A3E2}"/>
              </a:ext>
            </a:extLst>
          </p:cNvPr>
          <p:cNvSpPr/>
          <p:nvPr/>
        </p:nvSpPr>
        <p:spPr>
          <a:xfrm>
            <a:off x="1260570" y="1041400"/>
            <a:ext cx="304800" cy="304800"/>
          </a:xfrm>
          <a:prstGeom prst="ellipse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65" name="heading Handshake">
            <a:extLst>
              <a:ext uri="{FF2B5EF4-FFF2-40B4-BE49-F238E27FC236}">
                <a16:creationId xmlns:a16="http://schemas.microsoft.com/office/drawing/2014/main" id="{56044A4A-977B-7043-6F7D-79A033063F7E}"/>
              </a:ext>
            </a:extLst>
          </p:cNvPr>
          <p:cNvSpPr txBox="1"/>
          <p:nvPr/>
        </p:nvSpPr>
        <p:spPr>
          <a:xfrm>
            <a:off x="1666970" y="10541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1E293B"/>
                </a:solidFill>
                <a:latin typeface="Segoe UI Semibold" panose="020B0702040204020203" pitchFamily="34" charset="0"/>
              </a:rPr>
              <a:t>Handshake</a:t>
            </a:r>
            <a:endParaRPr lang="en-US" sz="1500" dirty="0">
              <a:solidFill>
                <a:srgbClr val="1E293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6" name="badge 1 verack">
            <a:extLst>
              <a:ext uri="{FF2B5EF4-FFF2-40B4-BE49-F238E27FC236}">
                <a16:creationId xmlns:a16="http://schemas.microsoft.com/office/drawing/2014/main" id="{3EB76EBC-8E85-8BA2-6EB3-7C57E96EAF0E}"/>
              </a:ext>
            </a:extLst>
          </p:cNvPr>
          <p:cNvSpPr/>
          <p:nvPr/>
        </p:nvSpPr>
        <p:spPr>
          <a:xfrm>
            <a:off x="1441450" y="2343150"/>
            <a:ext cx="165100" cy="165100"/>
          </a:xfrm>
          <a:prstGeom prst="ellipse">
            <a:avLst/>
          </a:prstGeom>
          <a:solidFill>
            <a:srgbClr val="C2700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  <a:endParaRPr lang="en-US" sz="800" dirty="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7" name="badge 2 getheaders VerAck">
            <a:extLst>
              <a:ext uri="{FF2B5EF4-FFF2-40B4-BE49-F238E27FC236}">
                <a16:creationId xmlns:a16="http://schemas.microsoft.com/office/drawing/2014/main" id="{CEF0E140-A60D-8967-746C-E18319720E68}"/>
              </a:ext>
            </a:extLst>
          </p:cNvPr>
          <p:cNvSpPr/>
          <p:nvPr/>
        </p:nvSpPr>
        <p:spPr>
          <a:xfrm>
            <a:off x="2330450" y="2343150"/>
            <a:ext cx="165100" cy="165100"/>
          </a:xfrm>
          <a:prstGeom prst="ellipse">
            <a:avLst/>
          </a:prstGeom>
          <a:solidFill>
            <a:srgbClr val="C2700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  <a:endParaRPr lang="en-US" sz="800" dirty="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8" name="badge 3 headers">
            <a:extLst>
              <a:ext uri="{FF2B5EF4-FFF2-40B4-BE49-F238E27FC236}">
                <a16:creationId xmlns:a16="http://schemas.microsoft.com/office/drawing/2014/main" id="{74A4E0BF-C596-BACE-31A0-1ACE13BCB076}"/>
              </a:ext>
            </a:extLst>
          </p:cNvPr>
          <p:cNvSpPr/>
          <p:nvPr/>
        </p:nvSpPr>
        <p:spPr>
          <a:xfrm>
            <a:off x="3917950" y="2343150"/>
            <a:ext cx="165100" cy="165100"/>
          </a:xfrm>
          <a:prstGeom prst="ellipse">
            <a:avLst/>
          </a:prstGeom>
          <a:solidFill>
            <a:srgbClr val="C2700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  <a:endParaRPr lang="en-US" sz="800" dirty="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9" name="badge 4 getheaders">
            <a:extLst>
              <a:ext uri="{FF2B5EF4-FFF2-40B4-BE49-F238E27FC236}">
                <a16:creationId xmlns:a16="http://schemas.microsoft.com/office/drawing/2014/main" id="{D402FE35-1B62-D06D-47B7-637D9691371A}"/>
              </a:ext>
            </a:extLst>
          </p:cNvPr>
          <p:cNvSpPr/>
          <p:nvPr/>
        </p:nvSpPr>
        <p:spPr>
          <a:xfrm>
            <a:off x="4806950" y="2343150"/>
            <a:ext cx="165100" cy="165100"/>
          </a:xfrm>
          <a:prstGeom prst="ellipse">
            <a:avLst/>
          </a:prstGeom>
          <a:solidFill>
            <a:srgbClr val="C2700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  <a:endParaRPr lang="en-US" sz="800" dirty="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0" name="badge 5 getdata">
            <a:extLst>
              <a:ext uri="{FF2B5EF4-FFF2-40B4-BE49-F238E27FC236}">
                <a16:creationId xmlns:a16="http://schemas.microsoft.com/office/drawing/2014/main" id="{0D620078-D42A-913D-6981-539FC9581EDF}"/>
              </a:ext>
            </a:extLst>
          </p:cNvPr>
          <p:cNvSpPr/>
          <p:nvPr/>
        </p:nvSpPr>
        <p:spPr>
          <a:xfrm>
            <a:off x="6584950" y="2343150"/>
            <a:ext cx="165100" cy="165100"/>
          </a:xfrm>
          <a:prstGeom prst="ellipse">
            <a:avLst/>
          </a:prstGeom>
          <a:solidFill>
            <a:srgbClr val="C2700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>
                <a:solidFill>
                  <a:srgbClr val="FFFFFF"/>
                </a:solidFill>
                <a:latin typeface="Segoe UI Semibold" panose="020B0702040204020203" pitchFamily="34" charset="0"/>
              </a:rPr>
              <a:t>5</a:t>
            </a:r>
            <a:endParaRPr lang="en-US" sz="800" dirty="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1" name="badge 6 block">
            <a:extLst>
              <a:ext uri="{FF2B5EF4-FFF2-40B4-BE49-F238E27FC236}">
                <a16:creationId xmlns:a16="http://schemas.microsoft.com/office/drawing/2014/main" id="{A7EB4B7B-0D43-9A84-01E9-C293F0B36EBD}"/>
              </a:ext>
            </a:extLst>
          </p:cNvPr>
          <p:cNvSpPr/>
          <p:nvPr/>
        </p:nvSpPr>
        <p:spPr>
          <a:xfrm>
            <a:off x="7473950" y="2343150"/>
            <a:ext cx="165100" cy="165100"/>
          </a:xfrm>
          <a:prstGeom prst="ellipse">
            <a:avLst/>
          </a:prstGeom>
          <a:solidFill>
            <a:srgbClr val="C2700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>
                <a:solidFill>
                  <a:srgbClr val="FFFFFF"/>
                </a:solidFill>
                <a:latin typeface="Segoe UI Semibold" panose="020B0702040204020203" pitchFamily="34" charset="0"/>
              </a:rPr>
              <a:t>6</a:t>
            </a:r>
            <a:endParaRPr lang="en-US" sz="800" dirty="0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2" name="loop headers">
            <a:extLst>
              <a:ext uri="{FF2B5EF4-FFF2-40B4-BE49-F238E27FC236}">
                <a16:creationId xmlns:a16="http://schemas.microsoft.com/office/drawing/2014/main" id="{F15B8C41-F32D-3C14-211A-130FF50B6541}"/>
              </a:ext>
            </a:extLst>
          </p:cNvPr>
          <p:cNvSpPr txBox="1"/>
          <p:nvPr/>
        </p:nvSpPr>
        <p:spPr>
          <a:xfrm>
            <a:off x="4347216" y="2287201"/>
            <a:ext cx="195566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b="1">
                <a:solidFill>
                  <a:srgbClr val="C2700A"/>
                </a:solidFill>
                <a:latin typeface="Segoe UI Symbol" panose="020B0502040204020203" pitchFamily="34" charset="0"/>
              </a:rPr>
              <a:t>↻</a:t>
            </a:r>
            <a:endParaRPr lang="en-US" b="1" dirty="0">
              <a:solidFill>
                <a:srgbClr val="C2700A"/>
              </a:solidFill>
              <a:latin typeface="Segoe UI Symbol" panose="020B0502040204020203" pitchFamily="34" charset="0"/>
            </a:endParaRPr>
          </a:p>
        </p:txBody>
      </p:sp>
      <p:sp>
        <p:nvSpPr>
          <p:cNvPr id="73" name="loop blocks">
            <a:extLst>
              <a:ext uri="{FF2B5EF4-FFF2-40B4-BE49-F238E27FC236}">
                <a16:creationId xmlns:a16="http://schemas.microsoft.com/office/drawing/2014/main" id="{6FFBE7D9-991E-356C-7CE3-1ED5E5BE1FE4}"/>
              </a:ext>
            </a:extLst>
          </p:cNvPr>
          <p:cNvSpPr txBox="1"/>
          <p:nvPr/>
        </p:nvSpPr>
        <p:spPr>
          <a:xfrm>
            <a:off x="7014217" y="2287201"/>
            <a:ext cx="195566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b="1">
                <a:solidFill>
                  <a:srgbClr val="C2700A"/>
                </a:solidFill>
                <a:latin typeface="Segoe UI Symbol" panose="020B0502040204020203" pitchFamily="34" charset="0"/>
              </a:rPr>
              <a:t>↻</a:t>
            </a:r>
            <a:endParaRPr lang="en-US" b="1" dirty="0">
              <a:solidFill>
                <a:srgbClr val="C2700A"/>
              </a:solidFill>
              <a:latin typeface="Segoe UI Symbol" panose="020B0502040204020203" pitchFamily="34" charset="0"/>
            </a:endParaRPr>
          </a:p>
        </p:txBody>
      </p:sp>
      <p:sp>
        <p:nvSpPr>
          <p:cNvPr id="74" name="InsertBlockReturnNextBlock.queue block">
            <a:extLst>
              <a:ext uri="{FF2B5EF4-FFF2-40B4-BE49-F238E27FC236}">
                <a16:creationId xmlns:a16="http://schemas.microsoft.com/office/drawing/2014/main" id="{FE061FFE-30C7-7118-1732-DE5544035889}"/>
              </a:ext>
            </a:extLst>
          </p:cNvPr>
          <p:cNvSpPr/>
          <p:nvPr/>
        </p:nvSpPr>
        <p:spPr>
          <a:xfrm>
            <a:off x="6223000" y="5092700"/>
            <a:ext cx="1778000" cy="25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CH" sz="950">
                <a:solidFill>
                  <a:srgbClr val="3B1E7A"/>
                </a:solidFill>
                <a:latin typeface="Consolas" panose="020B0609020204030204" pitchFamily="49" charset="0"/>
              </a:rPr>
              <a:t>queue block</a:t>
            </a:r>
          </a:p>
        </p:txBody>
      </p:sp>
      <p:sp>
        <p:nvSpPr>
          <p:cNvPr id="75" name="InsertBlockReturnNextBlock.insert in order">
            <a:extLst>
              <a:ext uri="{FF2B5EF4-FFF2-40B4-BE49-F238E27FC236}">
                <a16:creationId xmlns:a16="http://schemas.microsoft.com/office/drawing/2014/main" id="{CA0C6C7A-0149-66AC-632F-6F933ABCDF0F}"/>
              </a:ext>
            </a:extLst>
          </p:cNvPr>
          <p:cNvSpPr/>
          <p:nvPr/>
        </p:nvSpPr>
        <p:spPr>
          <a:xfrm>
            <a:off x="6223000" y="5473700"/>
            <a:ext cx="1778000" cy="25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CH" sz="950">
                <a:solidFill>
                  <a:srgbClr val="3B1E7A"/>
                </a:solidFill>
                <a:latin typeface="Consolas" panose="020B0609020204030204" pitchFamily="49" charset="0"/>
              </a:rPr>
              <a:t>insert in order</a:t>
            </a:r>
          </a:p>
        </p:txBody>
      </p:sp>
      <p:sp>
        <p:nvSpPr>
          <p:cNvPr id="76" name="InsertBlockReturnNextBlock.reorg if stronger">
            <a:extLst>
              <a:ext uri="{FF2B5EF4-FFF2-40B4-BE49-F238E27FC236}">
                <a16:creationId xmlns:a16="http://schemas.microsoft.com/office/drawing/2014/main" id="{850F997A-CF4D-E4C1-25D7-B8835EE42003}"/>
              </a:ext>
            </a:extLst>
          </p:cNvPr>
          <p:cNvSpPr/>
          <p:nvPr/>
        </p:nvSpPr>
        <p:spPr>
          <a:xfrm>
            <a:off x="6223000" y="5854700"/>
            <a:ext cx="1778000" cy="25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CH" sz="950">
                <a:solidFill>
                  <a:srgbClr val="3B1E7A"/>
                </a:solidFill>
                <a:latin typeface="Consolas" panose="020B0609020204030204" pitchFamily="49" charset="0"/>
              </a:rPr>
              <a:t>reorg if stronger</a:t>
            </a:r>
          </a:p>
        </p:txBody>
      </p:sp>
      <p:sp>
        <p:nvSpPr>
          <p:cNvPr id="77" name="InsertBlockReturnNextBlock.pick next block">
            <a:extLst>
              <a:ext uri="{FF2B5EF4-FFF2-40B4-BE49-F238E27FC236}">
                <a16:creationId xmlns:a16="http://schemas.microsoft.com/office/drawing/2014/main" id="{D69E1708-27A3-4453-9EFA-666E84F37D2D}"/>
              </a:ext>
            </a:extLst>
          </p:cNvPr>
          <p:cNvSpPr/>
          <p:nvPr/>
        </p:nvSpPr>
        <p:spPr>
          <a:xfrm>
            <a:off x="6223000" y="6235700"/>
            <a:ext cx="1778000" cy="25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CH" sz="950">
                <a:solidFill>
                  <a:srgbClr val="3B1E7A"/>
                </a:solidFill>
                <a:latin typeface="Consolas" panose="020B0609020204030204" pitchFamily="49" charset="0"/>
              </a:rPr>
              <a:t>pick next block</a:t>
            </a:r>
          </a:p>
        </p:txBody>
      </p:sp>
      <p:cxnSp>
        <p:nvCxnSpPr>
          <p:cNvPr id="78" name="flow queue block -&gt; insert in order">
            <a:extLst>
              <a:ext uri="{FF2B5EF4-FFF2-40B4-BE49-F238E27FC236}">
                <a16:creationId xmlns:a16="http://schemas.microsoft.com/office/drawing/2014/main" id="{A999E237-2D09-4FA3-EB7E-DC5FF5EA5575}"/>
              </a:ext>
            </a:extLst>
          </p:cNvPr>
          <p:cNvCxnSpPr>
            <a:cxnSpLocks/>
            <a:stCxn id="74" idx="4"/>
            <a:endCxn id="75" idx="0"/>
          </p:cNvCxnSpPr>
          <p:nvPr/>
        </p:nvCxnSpPr>
        <p:spPr>
          <a:xfrm>
            <a:off x="7112000" y="5346700"/>
            <a:ext cx="0" cy="127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flow insert in order -&gt; reorg if stronger">
            <a:extLst>
              <a:ext uri="{FF2B5EF4-FFF2-40B4-BE49-F238E27FC236}">
                <a16:creationId xmlns:a16="http://schemas.microsoft.com/office/drawing/2014/main" id="{015CC6A8-973D-5D8B-D3EF-3A7FB2795B21}"/>
              </a:ext>
            </a:extLst>
          </p:cNvPr>
          <p:cNvCxnSpPr>
            <a:cxnSpLocks/>
            <a:stCxn id="75" idx="4"/>
            <a:endCxn id="76" idx="0"/>
          </p:cNvCxnSpPr>
          <p:nvPr/>
        </p:nvCxnSpPr>
        <p:spPr>
          <a:xfrm>
            <a:off x="7112000" y="5727700"/>
            <a:ext cx="0" cy="127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flow reorg if stronger -&gt; pick next block">
            <a:extLst>
              <a:ext uri="{FF2B5EF4-FFF2-40B4-BE49-F238E27FC236}">
                <a16:creationId xmlns:a16="http://schemas.microsoft.com/office/drawing/2014/main" id="{C0BF4A64-7611-7D97-C68A-82E802795720}"/>
              </a:ext>
            </a:extLst>
          </p:cNvPr>
          <p:cNvCxnSpPr>
            <a:cxnSpLocks/>
            <a:stCxn id="76" idx="4"/>
            <a:endCxn id="77" idx="0"/>
          </p:cNvCxnSpPr>
          <p:nvPr/>
        </p:nvCxnSpPr>
        <p:spPr>
          <a:xfrm>
            <a:off x="7112000" y="6108700"/>
            <a:ext cx="0" cy="127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149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D2FC04-AA7E-EE2D-A3B3-94098905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79400"/>
            <a:ext cx="11176000" cy="584200"/>
          </a:xfrm>
        </p:spPr>
        <p:txBody>
          <a:bodyPr lIns="0" anchor="ctr">
            <a:normAutofit/>
          </a:bodyPr>
          <a:lstStyle/>
          <a:p>
            <a:r>
              <a:rPr lang="de-CH" sz="2600">
                <a:solidFill>
                  <a:srgbClr val="1E293B"/>
                </a:solidFill>
                <a:latin typeface="Segoe UI Semibold" panose="020B0702040204020203" pitchFamily="34" charset="0"/>
              </a:rPr>
              <a:t>1  Header sync</a:t>
            </a:r>
          </a:p>
        </p:txBody>
      </p:sp>
      <p:sp>
        <p:nvSpPr>
          <p:cNvPr id="64" name="remote peer">
            <a:extLst>
              <a:ext uri="{FF2B5EF4-FFF2-40B4-BE49-F238E27FC236}">
                <a16:creationId xmlns:a16="http://schemas.microsoft.com/office/drawing/2014/main" id="{0DD52E9E-4BD0-282F-F877-BF4E7815894E}"/>
              </a:ext>
            </a:extLst>
          </p:cNvPr>
          <p:cNvSpPr/>
          <p:nvPr/>
        </p:nvSpPr>
        <p:spPr>
          <a:xfrm>
            <a:off x="508000" y="1524000"/>
            <a:ext cx="965200" cy="4114800"/>
          </a:xfrm>
          <a:prstGeom prst="roundRect">
            <a:avLst>
              <a:gd name="adj" fmla="val 12000"/>
            </a:avLst>
          </a:prstGeom>
          <a:solidFill>
            <a:srgbClr val="FDF0DC"/>
          </a:solidFill>
          <a:ln w="15875">
            <a:solidFill>
              <a:srgbClr val="C270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rgbClr val="7A4306"/>
                </a:solidFill>
                <a:latin typeface="Segoe UI Semibold" panose="020B0702040204020203" pitchFamily="34" charset="0"/>
              </a:rPr>
              <a:t>remote</a:t>
            </a:r>
          </a:p>
          <a:p>
            <a:pPr algn="ctr"/>
            <a:r>
              <a:rPr lang="de-CH" sz="1200">
                <a:solidFill>
                  <a:srgbClr val="7A4306"/>
                </a:solidFill>
                <a:latin typeface="Segoe UI Semibold" panose="020B0702040204020203" pitchFamily="34" charset="0"/>
              </a:rPr>
              <a:t>peer</a:t>
            </a:r>
          </a:p>
        </p:txBody>
      </p:sp>
      <p:sp>
        <p:nvSpPr>
          <p:cNvPr id="65" name="HeadersMessage">
            <a:extLst>
              <a:ext uri="{FF2B5EF4-FFF2-40B4-BE49-F238E27FC236}">
                <a16:creationId xmlns:a16="http://schemas.microsoft.com/office/drawing/2014/main" id="{C74EDF7F-22BD-0BBF-9C56-90455B5D8691}"/>
              </a:ext>
            </a:extLst>
          </p:cNvPr>
          <p:cNvSpPr/>
          <p:nvPr/>
        </p:nvSpPr>
        <p:spPr>
          <a:xfrm>
            <a:off x="2286000" y="1524000"/>
            <a:ext cx="2540000" cy="3175000"/>
          </a:xfrm>
          <a:prstGeom prst="roundRect">
            <a:avLst>
              <a:gd name="adj" fmla="val 5000"/>
            </a:avLst>
          </a:prstGeom>
          <a:solidFill>
            <a:srgbClr val="E3F2EF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839203D8-525B-4478-BD11-11C499E15DE2}"/>
              </a:ext>
            </a:extLst>
          </p:cNvPr>
          <p:cNvSpPr txBox="1"/>
          <p:nvPr/>
        </p:nvSpPr>
        <p:spPr>
          <a:xfrm>
            <a:off x="2413000" y="1574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134E4A"/>
                </a:solidFill>
                <a:latin typeface="Segoe UI Semibold" panose="020B0702040204020203" pitchFamily="34" charset="0"/>
              </a:rPr>
              <a:t>HeadersMessage</a:t>
            </a:r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  headers from one peer</a:t>
            </a:r>
            <a:endParaRPr lang="de-CH" sz="900" i="1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67" name="HeadersMessage.Run">
            <a:extLst>
              <a:ext uri="{FF2B5EF4-FFF2-40B4-BE49-F238E27FC236}">
                <a16:creationId xmlns:a16="http://schemas.microsoft.com/office/drawing/2014/main" id="{27A47C09-B699-40D5-9D2E-31EA7418705F}"/>
              </a:ext>
            </a:extLst>
          </p:cNvPr>
          <p:cNvSpPr/>
          <p:nvPr/>
        </p:nvSpPr>
        <p:spPr>
          <a:xfrm>
            <a:off x="2413000" y="1854200"/>
            <a:ext cx="2286000" cy="271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rtlCol="0" anchor="t"/>
          <a:lstStyle/>
          <a:p>
            <a:pPr algn="ctr"/>
            <a:r>
              <a:rPr lang="de-CH" sz="1100" b="1">
                <a:solidFill>
                  <a:srgbClr val="134E4A"/>
                </a:solidFill>
                <a:latin typeface="Consolas" panose="020B0609020204030204" pitchFamily="49" charset="0"/>
              </a:rPr>
              <a:t>Run</a:t>
            </a:r>
          </a:p>
        </p:txBody>
      </p:sp>
      <p:sp>
        <p:nvSpPr>
          <p:cNvPr id="79" name="Blockchain">
            <a:extLst>
              <a:ext uri="{FF2B5EF4-FFF2-40B4-BE49-F238E27FC236}">
                <a16:creationId xmlns:a16="http://schemas.microsoft.com/office/drawing/2014/main" id="{6EB3B358-2D2F-206F-9D94-DE0FF1BBF38C}"/>
              </a:ext>
            </a:extLst>
          </p:cNvPr>
          <p:cNvSpPr/>
          <p:nvPr/>
        </p:nvSpPr>
        <p:spPr>
          <a:xfrm>
            <a:off x="5207000" y="2184400"/>
            <a:ext cx="6540500" cy="3429000"/>
          </a:xfrm>
          <a:prstGeom prst="roundRect">
            <a:avLst>
              <a:gd name="adj" fmla="val 5000"/>
            </a:avLst>
          </a:prstGeom>
          <a:solidFill>
            <a:srgbClr val="EEEAFB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8D52D269-2908-F34C-C108-18AD6B822BCA}"/>
              </a:ext>
            </a:extLst>
          </p:cNvPr>
          <p:cNvSpPr txBox="1"/>
          <p:nvPr/>
        </p:nvSpPr>
        <p:spPr>
          <a:xfrm>
            <a:off x="5334000" y="2235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3B1E7A"/>
                </a:solidFill>
                <a:latin typeface="Segoe UI Semibold" panose="020B0702040204020203" pitchFamily="34" charset="0"/>
              </a:rPr>
              <a:t>Blockchain</a:t>
            </a:r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  guarded access to the chain</a:t>
            </a:r>
            <a:endParaRPr lang="de-CH" sz="900" i="1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1" name="Blockchain.TryExtendHeaderchain">
            <a:extLst>
              <a:ext uri="{FF2B5EF4-FFF2-40B4-BE49-F238E27FC236}">
                <a16:creationId xmlns:a16="http://schemas.microsoft.com/office/drawing/2014/main" id="{95FA6E2D-E33D-DAC4-AE79-84A84CEB1950}"/>
              </a:ext>
            </a:extLst>
          </p:cNvPr>
          <p:cNvSpPr/>
          <p:nvPr/>
        </p:nvSpPr>
        <p:spPr>
          <a:xfrm>
            <a:off x="5359400" y="2819400"/>
            <a:ext cx="2603500" cy="50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de-CH" sz="1100" b="1">
                <a:solidFill>
                  <a:srgbClr val="3B1E7A"/>
                </a:solidFill>
                <a:latin typeface="Consolas" panose="020B0609020204030204" pitchFamily="49" charset="0"/>
              </a:rPr>
              <a:t>TryExtendHeaderchain</a:t>
            </a:r>
          </a:p>
          <a:p>
            <a:pPr algn="ctr">
              <a:spcBef>
                <a:spcPts val="100"/>
              </a:spcBef>
            </a:pPr>
            <a:r>
              <a:rPr lang="de-CH" sz="850">
                <a:solidFill>
                  <a:srgbClr val="64748B"/>
                </a:solidFill>
                <a:latin typeface="Consolas" panose="020B0609020204030204" pitchFamily="49" charset="0"/>
              </a:rPr>
              <a:t>lock</a:t>
            </a:r>
          </a:p>
        </p:txBody>
      </p:sp>
      <p:sp>
        <p:nvSpPr>
          <p:cNvPr id="82" name="Branch">
            <a:extLst>
              <a:ext uri="{FF2B5EF4-FFF2-40B4-BE49-F238E27FC236}">
                <a16:creationId xmlns:a16="http://schemas.microsoft.com/office/drawing/2014/main" id="{357DFAF0-C433-8F67-731C-1F5A4B1843C8}"/>
              </a:ext>
            </a:extLst>
          </p:cNvPr>
          <p:cNvSpPr/>
          <p:nvPr/>
        </p:nvSpPr>
        <p:spPr>
          <a:xfrm>
            <a:off x="8128000" y="2489200"/>
            <a:ext cx="3429000" cy="2438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D83FD425-959C-40E2-55EB-6B2F14FFE92E}"/>
              </a:ext>
            </a:extLst>
          </p:cNvPr>
          <p:cNvSpPr txBox="1"/>
          <p:nvPr/>
        </p:nvSpPr>
        <p:spPr>
          <a:xfrm>
            <a:off x="8255000" y="25400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3B1E7A"/>
                </a:solidFill>
                <a:latin typeface="Segoe UI Semibold" panose="020B0702040204020203" pitchFamily="34" charset="0"/>
              </a:rPr>
              <a:t>Branch</a:t>
            </a:r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  one segment of the header tree</a:t>
            </a:r>
            <a:endParaRPr lang="de-CH" sz="900" i="1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4" name="Branch.TryExtendHeaderchain">
            <a:extLst>
              <a:ext uri="{FF2B5EF4-FFF2-40B4-BE49-F238E27FC236}">
                <a16:creationId xmlns:a16="http://schemas.microsoft.com/office/drawing/2014/main" id="{0A87F1D0-16DC-BB76-4F31-5173698D5A2F}"/>
              </a:ext>
            </a:extLst>
          </p:cNvPr>
          <p:cNvSpPr/>
          <p:nvPr/>
        </p:nvSpPr>
        <p:spPr>
          <a:xfrm>
            <a:off x="8280400" y="2819400"/>
            <a:ext cx="3124200" cy="508000"/>
          </a:xfrm>
          <a:prstGeom prst="roundRect">
            <a:avLst>
              <a:gd name="adj" fmla="val 18000"/>
            </a:avLst>
          </a:prstGeom>
          <a:solidFill>
            <a:srgbClr val="EEEAFB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de-CH" sz="1100" b="1">
                <a:solidFill>
                  <a:srgbClr val="3B1E7A"/>
                </a:solidFill>
                <a:latin typeface="Consolas" panose="020B0609020204030204" pitchFamily="49" charset="0"/>
              </a:rPr>
              <a:t>TryExtendHeaderchain</a:t>
            </a:r>
          </a:p>
          <a:p>
            <a:pPr algn="ctr">
              <a:spcBef>
                <a:spcPts val="100"/>
              </a:spcBef>
            </a:pPr>
            <a:r>
              <a:rPr lang="de-CH" sz="850">
                <a:solidFill>
                  <a:srgbClr val="64748B"/>
                </a:solidFill>
                <a:latin typeface="Consolas" panose="020B0609020204030204" pitchFamily="49" charset="0"/>
              </a:rPr>
              <a:t>attach headers</a:t>
            </a:r>
          </a:p>
        </p:txBody>
      </p:sp>
      <p:sp>
        <p:nvSpPr>
          <p:cNvPr id="85" name="Branch.TrySearchHeaderAncestor">
            <a:extLst>
              <a:ext uri="{FF2B5EF4-FFF2-40B4-BE49-F238E27FC236}">
                <a16:creationId xmlns:a16="http://schemas.microsoft.com/office/drawing/2014/main" id="{D503288B-DE78-7295-2DD8-79797E5C1C3A}"/>
              </a:ext>
            </a:extLst>
          </p:cNvPr>
          <p:cNvSpPr/>
          <p:nvPr/>
        </p:nvSpPr>
        <p:spPr>
          <a:xfrm>
            <a:off x="8280400" y="3581400"/>
            <a:ext cx="3124200" cy="508000"/>
          </a:xfrm>
          <a:prstGeom prst="roundRect">
            <a:avLst>
              <a:gd name="adj" fmla="val 18000"/>
            </a:avLst>
          </a:prstGeom>
          <a:solidFill>
            <a:srgbClr val="EEEAFB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en-US" sz="1100" b="1">
                <a:solidFill>
                  <a:srgbClr val="3B1E7A"/>
                </a:solidFill>
                <a:latin typeface="Consolas" panose="020B0609020204030204" pitchFamily="49" charset="0"/>
              </a:rPr>
              <a:t>TrySearchHeaderAncestor</a:t>
            </a:r>
          </a:p>
          <a:p>
            <a:pPr algn="ctr">
              <a:spcBef>
                <a:spcPts val="100"/>
              </a:spcBef>
            </a:pPr>
            <a:r>
              <a:rPr lang="en-US" sz="850">
                <a:solidFill>
                  <a:srgbClr val="64748B"/>
                </a:solidFill>
                <a:latin typeface="Consolas" panose="020B0609020204030204" pitchFamily="49" charset="0"/>
              </a:rPr>
              <a:t>find ancestor + skip known</a:t>
            </a:r>
            <a:endParaRPr lang="de-CH" sz="85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Branch.AppendHeader">
            <a:extLst>
              <a:ext uri="{FF2B5EF4-FFF2-40B4-BE49-F238E27FC236}">
                <a16:creationId xmlns:a16="http://schemas.microsoft.com/office/drawing/2014/main" id="{6098D5FA-976D-6B25-5C4D-720D161924EB}"/>
              </a:ext>
            </a:extLst>
          </p:cNvPr>
          <p:cNvSpPr/>
          <p:nvPr/>
        </p:nvSpPr>
        <p:spPr>
          <a:xfrm>
            <a:off x="8280400" y="4343400"/>
            <a:ext cx="3124200" cy="508000"/>
          </a:xfrm>
          <a:prstGeom prst="roundRect">
            <a:avLst>
              <a:gd name="adj" fmla="val 18000"/>
            </a:avLst>
          </a:prstGeom>
          <a:solidFill>
            <a:srgbClr val="EEEAFB"/>
          </a:solidFill>
          <a:ln w="15875"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lang="en-US" sz="1100" b="1">
                <a:solidFill>
                  <a:srgbClr val="3B1E7A"/>
                </a:solidFill>
                <a:latin typeface="Consolas" panose="020B0609020204030204" pitchFamily="49" charset="0"/>
              </a:rPr>
              <a:t>AppendHeader</a:t>
            </a:r>
          </a:p>
          <a:p>
            <a:pPr algn="ctr">
              <a:spcBef>
                <a:spcPts val="100"/>
              </a:spcBef>
            </a:pPr>
            <a:r>
              <a:rPr lang="en-US" sz="850">
                <a:solidFill>
                  <a:srgbClr val="64748B"/>
                </a:solidFill>
                <a:latin typeface="Consolas" panose="020B0609020204030204" pitchFamily="49" charset="0"/>
              </a:rPr>
              <a:t>link header to tip</a:t>
            </a:r>
            <a:endParaRPr lang="de-CH" sz="85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GetHeadersMessage.SendGetHeaders">
            <a:extLst>
              <a:ext uri="{FF2B5EF4-FFF2-40B4-BE49-F238E27FC236}">
                <a16:creationId xmlns:a16="http://schemas.microsoft.com/office/drawing/2014/main" id="{43464471-72C2-58DB-4E82-7B91B3C078ED}"/>
              </a:ext>
            </a:extLst>
          </p:cNvPr>
          <p:cNvSpPr/>
          <p:nvPr/>
        </p:nvSpPr>
        <p:spPr>
          <a:xfrm>
            <a:off x="2413000" y="4953000"/>
            <a:ext cx="2286000" cy="685800"/>
          </a:xfrm>
          <a:prstGeom prst="roundRect">
            <a:avLst>
              <a:gd name="adj" fmla="val 14000"/>
            </a:avLst>
          </a:prstGeom>
          <a:solidFill>
            <a:srgbClr val="E3F2EF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900">
                <a:solidFill>
                  <a:srgbClr val="134E4A"/>
                </a:solidFill>
                <a:latin typeface="Segoe UI" panose="020B0502040204020203" pitchFamily="34" charset="0"/>
              </a:rPr>
              <a:t>GetHeadersMessage.</a:t>
            </a:r>
          </a:p>
          <a:p>
            <a:pPr algn="ctr"/>
            <a:r>
              <a:rPr lang="en-US" sz="1100" b="1">
                <a:solidFill>
                  <a:srgbClr val="134E4A"/>
                </a:solidFill>
                <a:latin typeface="Consolas" panose="020B0609020204030204" pitchFamily="49" charset="0"/>
              </a:rPr>
              <a:t>SendGetHeaders</a:t>
            </a:r>
          </a:p>
          <a:p>
            <a:pPr algn="ctr"/>
            <a:r>
              <a:rPr lang="en-US" sz="850">
                <a:solidFill>
                  <a:srgbClr val="64748B"/>
                </a:solidFill>
                <a:latin typeface="Consolas" panose="020B0609020204030204" pitchFamily="49" charset="0"/>
              </a:rPr>
              <a:t>send getheaders</a:t>
            </a:r>
            <a:endParaRPr lang="de-CH" sz="85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3E962A5C-2FC0-639A-61CB-EBB0E887E89E}"/>
              </a:ext>
            </a:extLst>
          </p:cNvPr>
          <p:cNvCxnSpPr>
            <a:cxnSpLocks/>
            <a:stCxn id="81" idx="3"/>
            <a:endCxn id="84" idx="1"/>
          </p:cNvCxnSpPr>
          <p:nvPr/>
        </p:nvCxnSpPr>
        <p:spPr>
          <a:xfrm>
            <a:off x="7962900" y="3073400"/>
            <a:ext cx="317500" cy="0"/>
          </a:xfrm>
          <a:prstGeom prst="straightConnector1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61284E32-7D99-9B3F-5BB5-0C33A16B6625}"/>
              </a:ext>
            </a:extLst>
          </p:cNvPr>
          <p:cNvCxnSpPr>
            <a:cxnSpLocks/>
            <a:stCxn id="84" idx="2"/>
            <a:endCxn id="85" idx="0"/>
          </p:cNvCxnSpPr>
          <p:nvPr/>
        </p:nvCxnSpPr>
        <p:spPr>
          <a:xfrm>
            <a:off x="9842500" y="3327400"/>
            <a:ext cx="0" cy="254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DBFAD03D-0D6F-9F63-53F6-29AFD9E73F31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>
            <a:off x="9842500" y="4089400"/>
            <a:ext cx="0" cy="254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6639918D-510A-7E53-B232-61D2D5B5850D}"/>
              </a:ext>
            </a:extLst>
          </p:cNvPr>
          <p:cNvCxnSpPr/>
          <p:nvPr/>
        </p:nvCxnSpPr>
        <p:spPr>
          <a:xfrm>
            <a:off x="1473200" y="2489200"/>
            <a:ext cx="1193800" cy="0"/>
          </a:xfrm>
          <a:prstGeom prst="line">
            <a:avLst/>
          </a:prstGeom>
          <a:ln w="22225">
            <a:solidFill>
              <a:srgbClr val="C270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pill headers">
            <a:extLst>
              <a:ext uri="{FF2B5EF4-FFF2-40B4-BE49-F238E27FC236}">
                <a16:creationId xmlns:a16="http://schemas.microsoft.com/office/drawing/2014/main" id="{CB8752DC-9D84-B2EF-5BBB-52EA6E791ED5}"/>
              </a:ext>
            </a:extLst>
          </p:cNvPr>
          <p:cNvSpPr/>
          <p:nvPr/>
        </p:nvSpPr>
        <p:spPr>
          <a:xfrm>
            <a:off x="1605280" y="2184400"/>
            <a:ext cx="67564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70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lang="de-CH" sz="950" b="1">
                <a:solidFill>
                  <a:srgbClr val="7A4306"/>
                </a:solidFill>
                <a:latin typeface="Consolas" panose="020B0609020204030204" pitchFamily="49" charset="0"/>
              </a:rPr>
              <a:t>headers</a:t>
            </a:r>
          </a:p>
        </p:txBody>
      </p: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FD4EAFDE-A742-4EB8-C9AD-EB5E02FC3F89}"/>
              </a:ext>
            </a:extLst>
          </p:cNvPr>
          <p:cNvCxnSpPr/>
          <p:nvPr/>
        </p:nvCxnSpPr>
        <p:spPr>
          <a:xfrm flipH="1">
            <a:off x="1473200" y="5295900"/>
            <a:ext cx="939800" cy="0"/>
          </a:xfrm>
          <a:prstGeom prst="line">
            <a:avLst/>
          </a:prstGeom>
          <a:ln w="22225">
            <a:solidFill>
              <a:srgbClr val="C270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pill getheaders">
            <a:extLst>
              <a:ext uri="{FF2B5EF4-FFF2-40B4-BE49-F238E27FC236}">
                <a16:creationId xmlns:a16="http://schemas.microsoft.com/office/drawing/2014/main" id="{85E595E4-4291-FE60-162E-2AE614D60050}"/>
              </a:ext>
            </a:extLst>
          </p:cNvPr>
          <p:cNvSpPr/>
          <p:nvPr/>
        </p:nvSpPr>
        <p:spPr>
          <a:xfrm>
            <a:off x="1498600" y="4991100"/>
            <a:ext cx="889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70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lang="de-CH" sz="950" b="1">
                <a:solidFill>
                  <a:srgbClr val="7A4306"/>
                </a:solidFill>
                <a:latin typeface="Consolas" panose="020B0609020204030204" pitchFamily="49" charset="0"/>
              </a:rPr>
              <a:t>getheaders</a:t>
            </a:r>
          </a:p>
        </p:txBody>
      </p:sp>
      <p:sp>
        <p:nvSpPr>
          <p:cNvPr id="98" name="Run.parse headers">
            <a:extLst>
              <a:ext uri="{FF2B5EF4-FFF2-40B4-BE49-F238E27FC236}">
                <a16:creationId xmlns:a16="http://schemas.microsoft.com/office/drawing/2014/main" id="{9A36C6A0-190A-1500-0D2A-E0865DF988CE}"/>
              </a:ext>
            </a:extLst>
          </p:cNvPr>
          <p:cNvSpPr/>
          <p:nvPr/>
        </p:nvSpPr>
        <p:spPr>
          <a:xfrm>
            <a:off x="2667000" y="2311400"/>
            <a:ext cx="1778000" cy="355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de-CH" sz="950">
                <a:solidFill>
                  <a:srgbClr val="134E4A"/>
                </a:solidFill>
                <a:latin typeface="Consolas" panose="020B0609020204030204" pitchFamily="49" charset="0"/>
              </a:rPr>
              <a:t>parse headers</a:t>
            </a:r>
          </a:p>
        </p:txBody>
      </p:sp>
      <p:sp>
        <p:nvSpPr>
          <p:cNvPr id="99" name="Run.extend chain">
            <a:extLst>
              <a:ext uri="{FF2B5EF4-FFF2-40B4-BE49-F238E27FC236}">
                <a16:creationId xmlns:a16="http://schemas.microsoft.com/office/drawing/2014/main" id="{619F39BA-9EF8-8074-3D34-1DDE02DA1DA9}"/>
              </a:ext>
            </a:extLst>
          </p:cNvPr>
          <p:cNvSpPr/>
          <p:nvPr/>
        </p:nvSpPr>
        <p:spPr>
          <a:xfrm>
            <a:off x="2438400" y="2844800"/>
            <a:ext cx="2235200" cy="965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27000" rIns="0" bIns="0" rtlCol="0" anchor="t"/>
          <a:lstStyle/>
          <a:p>
            <a:pPr algn="ctr"/>
            <a:r>
              <a:rPr lang="de-CH" sz="950">
                <a:solidFill>
                  <a:srgbClr val="134E4A"/>
                </a:solidFill>
                <a:latin typeface="Consolas" panose="020B0609020204030204" pitchFamily="49" charset="0"/>
              </a:rPr>
              <a:t>extend chain</a:t>
            </a:r>
          </a:p>
        </p:txBody>
      </p:sp>
      <p:sp>
        <p:nvSpPr>
          <p:cNvPr id="101" name="Run.request next batch">
            <a:extLst>
              <a:ext uri="{FF2B5EF4-FFF2-40B4-BE49-F238E27FC236}">
                <a16:creationId xmlns:a16="http://schemas.microsoft.com/office/drawing/2014/main" id="{25D42380-3992-F2C8-8972-BCD80E8A8E85}"/>
              </a:ext>
            </a:extLst>
          </p:cNvPr>
          <p:cNvSpPr/>
          <p:nvPr/>
        </p:nvSpPr>
        <p:spPr>
          <a:xfrm>
            <a:off x="2667000" y="4013200"/>
            <a:ext cx="1778000" cy="355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de-CH" sz="950">
                <a:solidFill>
                  <a:srgbClr val="134E4A"/>
                </a:solidFill>
                <a:latin typeface="Consolas" panose="020B0609020204030204" pitchFamily="49" charset="0"/>
              </a:rPr>
              <a:t>request next batch</a:t>
            </a:r>
          </a:p>
        </p:txBody>
      </p: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0714E089-BE57-3696-DD29-3E857EA70D30}"/>
              </a:ext>
            </a:extLst>
          </p:cNvPr>
          <p:cNvCxnSpPr>
            <a:cxnSpLocks/>
            <a:stCxn id="98" idx="4"/>
            <a:endCxn id="99" idx="0"/>
          </p:cNvCxnSpPr>
          <p:nvPr/>
        </p:nvCxnSpPr>
        <p:spPr>
          <a:xfrm>
            <a:off x="3556000" y="2667000"/>
            <a:ext cx="0" cy="1778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F07C9AA4-9F5F-3981-6571-78D95006D46D}"/>
              </a:ext>
            </a:extLst>
          </p:cNvPr>
          <p:cNvCxnSpPr>
            <a:cxnSpLocks/>
            <a:stCxn id="101" idx="4"/>
            <a:endCxn id="87" idx="0"/>
          </p:cNvCxnSpPr>
          <p:nvPr/>
        </p:nvCxnSpPr>
        <p:spPr>
          <a:xfrm>
            <a:off x="3556000" y="4368800"/>
            <a:ext cx="0" cy="5842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HeadersMessage.HeaderTipReceivedLast">
            <a:extLst>
              <a:ext uri="{FF2B5EF4-FFF2-40B4-BE49-F238E27FC236}">
                <a16:creationId xmlns:a16="http://schemas.microsoft.com/office/drawing/2014/main" id="{4D330B83-0D30-1F34-6F50-8D0D4F3DC89D}"/>
              </a:ext>
            </a:extLst>
          </p:cNvPr>
          <p:cNvSpPr/>
          <p:nvPr/>
        </p:nvSpPr>
        <p:spPr>
          <a:xfrm>
            <a:off x="2844800" y="3327400"/>
            <a:ext cx="1422400" cy="279400"/>
          </a:xfrm>
          <a:prstGeom prst="rect">
            <a:avLst/>
          </a:prstGeom>
          <a:solidFill>
            <a:srgbClr val="E3F2EF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lang="de-CH" sz="850" b="1">
                <a:solidFill>
                  <a:srgbClr val="134E4A"/>
                </a:solidFill>
                <a:latin typeface="Consolas" panose="020B0609020204030204" pitchFamily="49" charset="0"/>
              </a:rPr>
              <a:t>HeaderTipReceivedLast*</a:t>
            </a:r>
          </a:p>
        </p:txBody>
      </p:sp>
      <p:cxnSp>
        <p:nvCxnSpPr>
          <p:cNvPr id="111" name="call extend chain -&gt; Blockchain">
            <a:extLst>
              <a:ext uri="{FF2B5EF4-FFF2-40B4-BE49-F238E27FC236}">
                <a16:creationId xmlns:a16="http://schemas.microsoft.com/office/drawing/2014/main" id="{A613D950-4B38-200A-096D-483321AFE918}"/>
              </a:ext>
            </a:extLst>
          </p:cNvPr>
          <p:cNvCxnSpPr/>
          <p:nvPr/>
        </p:nvCxnSpPr>
        <p:spPr>
          <a:xfrm>
            <a:off x="4508500" y="3073400"/>
            <a:ext cx="850900" cy="0"/>
          </a:xfrm>
          <a:prstGeom prst="line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data Blockchain.TryExtendHeaderchain -&gt; HeaderTipReceivedLast">
            <a:extLst>
              <a:ext uri="{FF2B5EF4-FFF2-40B4-BE49-F238E27FC236}">
                <a16:creationId xmlns:a16="http://schemas.microsoft.com/office/drawing/2014/main" id="{40CC83BF-72E9-2707-DD1F-741490EC4A43}"/>
              </a:ext>
            </a:extLst>
          </p:cNvPr>
          <p:cNvCxnSpPr>
            <a:cxnSpLocks/>
            <a:stCxn id="81" idx="2"/>
            <a:endCxn id="108" idx="3"/>
          </p:cNvCxnSpPr>
          <p:nvPr/>
        </p:nvCxnSpPr>
        <p:spPr>
          <a:xfrm rot="5400000">
            <a:off x="5394325" y="2200275"/>
            <a:ext cx="139700" cy="2393950"/>
          </a:xfrm>
          <a:prstGeom prst="bentConnector2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9D2EB7F4-8704-E78E-4A2D-6F8749535A71}"/>
              </a:ext>
            </a:extLst>
          </p:cNvPr>
          <p:cNvCxnSpPr>
            <a:cxnSpLocks/>
            <a:stCxn id="99" idx="4"/>
            <a:endCxn id="101" idx="0"/>
          </p:cNvCxnSpPr>
          <p:nvPr/>
        </p:nvCxnSpPr>
        <p:spPr>
          <a:xfrm>
            <a:off x="3556000" y="3810000"/>
            <a:ext cx="0" cy="2032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data HeaderTipReceivedLast -&gt; SendGetHeaders">
            <a:extLst>
              <a:ext uri="{FF2B5EF4-FFF2-40B4-BE49-F238E27FC236}">
                <a16:creationId xmlns:a16="http://schemas.microsoft.com/office/drawing/2014/main" id="{92C03684-1AB2-2A82-4C73-F67AD93A6109}"/>
              </a:ext>
            </a:extLst>
          </p:cNvPr>
          <p:cNvSpPr/>
          <p:nvPr/>
        </p:nvSpPr>
        <p:spPr>
          <a:xfrm>
            <a:off x="2540000" y="3467100"/>
            <a:ext cx="304801" cy="1485901"/>
          </a:xfrm>
          <a:custGeom>
            <a:avLst/>
            <a:gdLst/>
            <a:ahLst/>
            <a:cxnLst/>
            <a:rect l="0" t="0" r="0" b="0"/>
            <a:pathLst>
              <a:path w="304801" h="1485901">
                <a:moveTo>
                  <a:pt x="304800" y="0"/>
                </a:moveTo>
                <a:lnTo>
                  <a:pt x="0" y="0"/>
                </a:lnTo>
                <a:lnTo>
                  <a:pt x="0" y="1485900"/>
                </a:lnTo>
              </a:path>
            </a:pathLst>
          </a:cu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footnote HeaderTipReceivedLast">
            <a:extLst>
              <a:ext uri="{FF2B5EF4-FFF2-40B4-BE49-F238E27FC236}">
                <a16:creationId xmlns:a16="http://schemas.microsoft.com/office/drawing/2014/main" id="{18B49A5D-49CE-2BD8-E6E4-E4F741A23106}"/>
              </a:ext>
            </a:extLst>
          </p:cNvPr>
          <p:cNvSpPr txBox="1"/>
          <p:nvPr/>
        </p:nvSpPr>
        <p:spPr>
          <a:xfrm>
            <a:off x="508000" y="5918200"/>
            <a:ext cx="11176000" cy="369332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en-US" sz="850" b="1" dirty="0">
                <a:solidFill>
                  <a:srgbClr val="134E4A"/>
                </a:solidFill>
                <a:latin typeface="Consolas" panose="020B0609020204030204" pitchFamily="49" charset="0"/>
              </a:rPr>
              <a:t>* </a:t>
            </a:r>
            <a:r>
              <a:rPr lang="en-US" sz="850" b="1" dirty="0" err="1">
                <a:solidFill>
                  <a:srgbClr val="134E4A"/>
                </a:solidFill>
                <a:latin typeface="Consolas" panose="020B0609020204030204" pitchFamily="49" charset="0"/>
              </a:rPr>
              <a:t>HeaderTipReceivedLast</a:t>
            </a:r>
            <a:r>
              <a:rPr lang="en-US" sz="900" i="1" dirty="0">
                <a:solidFill>
                  <a:srgbClr val="64748B"/>
                </a:solidFill>
                <a:latin typeface="Segoe UI" panose="020B0502040204020203" pitchFamily="34" charset="0"/>
              </a:rPr>
              <a:t> – this peer's latest header, as linked in the chain</a:t>
            </a:r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; </a:t>
            </a:r>
            <a:r>
              <a:rPr lang="en-US" sz="850" b="1">
                <a:solidFill>
                  <a:srgbClr val="134E4A"/>
                </a:solidFill>
                <a:latin typeface="Consolas" panose="020B0609020204030204" pitchFamily="49" charset="0"/>
              </a:rPr>
              <a:t>StartBlockDownloadDispatcher</a:t>
            </a:r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 and </a:t>
            </a:r>
            <a:r>
              <a:rPr lang="en-US" sz="850" b="1">
                <a:solidFill>
                  <a:srgbClr val="134E4A"/>
                </a:solidFill>
                <a:latin typeface="Consolas" panose="020B0609020204030204" pitchFamily="49" charset="0"/>
              </a:rPr>
              <a:t>BlockMessage.Run</a:t>
            </a:r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 use it to assign the peer's next block download on its branch, up to its height. </a:t>
            </a:r>
            <a:r>
              <a:rPr lang="en-US" sz="850" b="1">
                <a:solidFill>
                  <a:srgbClr val="134E4A"/>
                </a:solidFill>
                <a:latin typeface="Consolas" panose="020B0609020204030204" pitchFamily="49" charset="0"/>
              </a:rPr>
              <a:t>SendGetHeaders</a:t>
            </a:r>
            <a:r>
              <a:rPr lang="en-US" sz="900" i="1">
                <a:solidFill>
                  <a:srgbClr val="64748B"/>
                </a:solidFill>
                <a:latin typeface="Segoe UI" panose="020B0502040204020203" pitchFamily="34" charset="0"/>
              </a:rPr>
              <a:t> </a:t>
            </a:r>
            <a:r>
              <a:rPr lang="en-US" sz="900" i="1" dirty="0">
                <a:solidFill>
                  <a:srgbClr val="64748B"/>
                </a:solidFill>
                <a:latin typeface="Segoe UI" panose="020B0502040204020203" pitchFamily="34" charset="0"/>
              </a:rPr>
              <a:t>uses it to request further headers.</a:t>
            </a:r>
            <a:endParaRPr lang="de-CH" sz="900" i="1" dirty="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611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Breitbild</PresentationFormat>
  <Paragraphs>77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Consolas</vt:lpstr>
      <vt:lpstr>Segoe UI</vt:lpstr>
      <vt:lpstr>Segoe UI Semibold</vt:lpstr>
      <vt:lpstr>Segoe UI Symbol</vt:lpstr>
      <vt:lpstr>Office</vt:lpstr>
      <vt:lpstr>Overview State Synchronization</vt:lpstr>
      <vt:lpstr>1  Header sync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reto bhunjun</dc:creator>
  <cp:lastModifiedBy>reto bhunjun</cp:lastModifiedBy>
  <cp:revision>36</cp:revision>
  <dcterms:created xsi:type="dcterms:W3CDTF">2026-10-02T10:39:19Z</dcterms:created>
  <dcterms:modified xsi:type="dcterms:W3CDTF">2026-10-02T21:11:24Z</dcterms:modified>
</cp:coreProperties>
</file>